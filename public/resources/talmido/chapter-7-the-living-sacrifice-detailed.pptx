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b6bc9f661a4526" /><Relationship Type="http://schemas.openxmlformats.org/officeDocument/2006/relationships/extended-properties" Target="/docProps/app.xml" Id="Rd24c6134e6dc45b6" /><Relationship Type="http://schemas.openxmlformats.org/officeDocument/2006/relationships/officeDocument" Target="/ppt/presentation.xml" Id="R545eb40a8c6d45cf" /></Relationships>
</file>

<file path=ppt/presentation.xml><?xml version="1.0" encoding="utf-8"?>
<p:presentation xmlns:p="http://schemas.openxmlformats.org/presentationml/2006/main">
  <p:sldMasterIdLst>
    <p:sldMasterId xmlns:r="http://schemas.openxmlformats.org/officeDocument/2006/relationships" id="2147483648" r:id="Rbdf2dbee54494604"/>
  </p:sldMasterIdLst>
  <p:notesMasterIdLst>
    <p:notesMasterId xmlns:r="http://schemas.openxmlformats.org/officeDocument/2006/relationships" r:id="R47c1d8869bbb4c63"/>
  </p:notesMasterIdLst>
  <p:sldIdLst>
    <p:sldId xmlns:r="http://schemas.openxmlformats.org/officeDocument/2006/relationships" id="256" r:id="R5aeb8c30f67d4915"/>
    <p:sldId xmlns:r="http://schemas.openxmlformats.org/officeDocument/2006/relationships" id="257" r:id="R2c4886a66b1a4243"/>
    <p:sldId xmlns:r="http://schemas.openxmlformats.org/officeDocument/2006/relationships" id="258" r:id="R51425f3133cc41f8"/>
    <p:sldId xmlns:r="http://schemas.openxmlformats.org/officeDocument/2006/relationships" id="259" r:id="R3cd81b9b6b5b48fc"/>
    <p:sldId xmlns:r="http://schemas.openxmlformats.org/officeDocument/2006/relationships" id="260" r:id="Rf5b8473fdffc4eaf"/>
    <p:sldId xmlns:r="http://schemas.openxmlformats.org/officeDocument/2006/relationships" id="261" r:id="R7628029045cb4f0c"/>
    <p:sldId xmlns:r="http://schemas.openxmlformats.org/officeDocument/2006/relationships" id="262" r:id="Rb659c46d937a44ac"/>
    <p:sldId xmlns:r="http://schemas.openxmlformats.org/officeDocument/2006/relationships" id="263" r:id="Re0857379df6b4e67"/>
    <p:sldId xmlns:r="http://schemas.openxmlformats.org/officeDocument/2006/relationships" id="264" r:id="R73d2487c51214790"/>
    <p:sldId xmlns:r="http://schemas.openxmlformats.org/officeDocument/2006/relationships" id="265" r:id="R14bdb11fb813496a"/>
    <p:sldId xmlns:r="http://schemas.openxmlformats.org/officeDocument/2006/relationships" id="266" r:id="R3f4ca7c4d0f94d93"/>
    <p:sldId xmlns:r="http://schemas.openxmlformats.org/officeDocument/2006/relationships" id="267" r:id="Rad6f42782f664e8a"/>
    <p:sldId xmlns:r="http://schemas.openxmlformats.org/officeDocument/2006/relationships" id="268" r:id="Rcd3dcb6cbeaa4df6"/>
    <p:sldId xmlns:r="http://schemas.openxmlformats.org/officeDocument/2006/relationships" id="269" r:id="R64389cfc02664554"/>
    <p:sldId xmlns:r="http://schemas.openxmlformats.org/officeDocument/2006/relationships" id="270" r:id="R967537729e47472c"/>
    <p:sldId xmlns:r="http://schemas.openxmlformats.org/officeDocument/2006/relationships" id="271" r:id="Rca1fd2ab014f45df"/>
    <p:sldId xmlns:r="http://schemas.openxmlformats.org/officeDocument/2006/relationships" id="272" r:id="R4a494819f4c54ed1"/>
    <p:sldId xmlns:r="http://schemas.openxmlformats.org/officeDocument/2006/relationships" id="273" r:id="Rc1e8dd2839254fa8"/>
    <p:sldId xmlns:r="http://schemas.openxmlformats.org/officeDocument/2006/relationships" id="274" r:id="R789e03e46e70428b"/>
    <p:sldId xmlns:r="http://schemas.openxmlformats.org/officeDocument/2006/relationships" id="275" r:id="R52f13f57184d4d9d"/>
    <p:sldId xmlns:r="http://schemas.openxmlformats.org/officeDocument/2006/relationships" id="276" r:id="Rfaa5a9d2e10a45e2"/>
    <p:sldId xmlns:r="http://schemas.openxmlformats.org/officeDocument/2006/relationships" id="277" r:id="Rcac1ff3dc3a643c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561f0d641a4ec7" /><Relationship Type="http://schemas.openxmlformats.org/officeDocument/2006/relationships/slideMaster" Target="/ppt/slideMasters/slideMaster1.xml" Id="Rbdf2dbee54494604" /><Relationship Type="http://schemas.openxmlformats.org/officeDocument/2006/relationships/notesMaster" Target="/ppt/notesMasters/notesMaster1.xml" Id="R47c1d8869bbb4c63" /><Relationship Type="http://schemas.openxmlformats.org/officeDocument/2006/relationships/presProps" Target="/ppt/presProps.xml" Id="Rab77a0e042e34e79" /><Relationship Type="http://schemas.openxmlformats.org/officeDocument/2006/relationships/tableStyles" Target="/ppt/tableStyles.xml" Id="R88770a1164164e18" /><Relationship Type="http://schemas.openxmlformats.org/officeDocument/2006/relationships/slide" Target="/ppt/slides/slide1.xml" Id="R5aeb8c30f67d4915" /><Relationship Type="http://schemas.openxmlformats.org/officeDocument/2006/relationships/slide" Target="/ppt/slides/slide2.xml" Id="R2c4886a66b1a4243" /><Relationship Type="http://schemas.openxmlformats.org/officeDocument/2006/relationships/slide" Target="/ppt/slides/slide3.xml" Id="R51425f3133cc41f8" /><Relationship Type="http://schemas.openxmlformats.org/officeDocument/2006/relationships/slide" Target="/ppt/slides/slide4.xml" Id="R3cd81b9b6b5b48fc" /><Relationship Type="http://schemas.openxmlformats.org/officeDocument/2006/relationships/slide" Target="/ppt/slides/slide5.xml" Id="Rf5b8473fdffc4eaf" /><Relationship Type="http://schemas.openxmlformats.org/officeDocument/2006/relationships/slide" Target="/ppt/slides/slide6.xml" Id="R7628029045cb4f0c" /><Relationship Type="http://schemas.openxmlformats.org/officeDocument/2006/relationships/slide" Target="/ppt/slides/slide7.xml" Id="Rb659c46d937a44ac" /><Relationship Type="http://schemas.openxmlformats.org/officeDocument/2006/relationships/slide" Target="/ppt/slides/slide8.xml" Id="Re0857379df6b4e67" /><Relationship Type="http://schemas.openxmlformats.org/officeDocument/2006/relationships/slide" Target="/ppt/slides/slide9.xml" Id="R73d2487c51214790" /><Relationship Type="http://schemas.openxmlformats.org/officeDocument/2006/relationships/slide" Target="/ppt/slides/slide10.xml" Id="R14bdb11fb813496a" /><Relationship Type="http://schemas.openxmlformats.org/officeDocument/2006/relationships/slide" Target="/ppt/slides/slide11.xml" Id="R3f4ca7c4d0f94d93" /><Relationship Type="http://schemas.openxmlformats.org/officeDocument/2006/relationships/slide" Target="/ppt/slides/slide12.xml" Id="Rad6f42782f664e8a" /><Relationship Type="http://schemas.openxmlformats.org/officeDocument/2006/relationships/slide" Target="/ppt/slides/slide13.xml" Id="Rcd3dcb6cbeaa4df6" /><Relationship Type="http://schemas.openxmlformats.org/officeDocument/2006/relationships/slide" Target="/ppt/slides/slide14.xml" Id="R64389cfc02664554" /><Relationship Type="http://schemas.openxmlformats.org/officeDocument/2006/relationships/slide" Target="/ppt/slides/slide15.xml" Id="R967537729e47472c" /><Relationship Type="http://schemas.openxmlformats.org/officeDocument/2006/relationships/slide" Target="/ppt/slides/slide16.xml" Id="Rca1fd2ab014f45df" /><Relationship Type="http://schemas.openxmlformats.org/officeDocument/2006/relationships/slide" Target="/ppt/slides/slide17.xml" Id="R4a494819f4c54ed1" /><Relationship Type="http://schemas.openxmlformats.org/officeDocument/2006/relationships/slide" Target="/ppt/slides/slide18.xml" Id="Rc1e8dd2839254fa8" /><Relationship Type="http://schemas.openxmlformats.org/officeDocument/2006/relationships/slide" Target="/ppt/slides/slide19.xml" Id="R789e03e46e70428b" /><Relationship Type="http://schemas.openxmlformats.org/officeDocument/2006/relationships/slide" Target="/ppt/slides/slide20.xml" Id="R52f13f57184d4d9d" /><Relationship Type="http://schemas.openxmlformats.org/officeDocument/2006/relationships/slide" Target="/ppt/slides/slide21.xml" Id="Rfaa5a9d2e10a45e2" /><Relationship Type="http://schemas.openxmlformats.org/officeDocument/2006/relationships/slide" Target="/ppt/slides/slide22.xml" Id="Rcac1ff3dc3a643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4b22eca1394d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4f1d1ef3414651" /><Relationship Type="http://schemas.openxmlformats.org/officeDocument/2006/relationships/notesMaster" Target="/ppt/notesMasters/notesMaster1.xml" Id="Rc5ce9c11743346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e61709787046f6" /><Relationship Type="http://schemas.openxmlformats.org/officeDocument/2006/relationships/notesMaster" Target="/ppt/notesMasters/notesMaster1.xml" Id="R56d8ff9de7154b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ca3a998e764d70" /><Relationship Type="http://schemas.openxmlformats.org/officeDocument/2006/relationships/notesMaster" Target="/ppt/notesMasters/notesMaster1.xml" Id="R72159d1dfe0c49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10391ccbba4c0c" /><Relationship Type="http://schemas.openxmlformats.org/officeDocument/2006/relationships/notesMaster" Target="/ppt/notesMasters/notesMaster1.xml" Id="R1b87486dd00e4e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3fb550211c4a15" /><Relationship Type="http://schemas.openxmlformats.org/officeDocument/2006/relationships/notesMaster" Target="/ppt/notesMasters/notesMaster1.xml" Id="Ra1a62532a5bd496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d856654ba84830" /><Relationship Type="http://schemas.openxmlformats.org/officeDocument/2006/relationships/notesMaster" Target="/ppt/notesMasters/notesMaster1.xml" Id="Rc3df8c9e463e49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a8ebf7618a4657" /><Relationship Type="http://schemas.openxmlformats.org/officeDocument/2006/relationships/notesMaster" Target="/ppt/notesMasters/notesMaster1.xml" Id="Rb171b90fb1be4c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24b16158954161" /><Relationship Type="http://schemas.openxmlformats.org/officeDocument/2006/relationships/notesMaster" Target="/ppt/notesMasters/notesMaster1.xml" Id="R0d85f8869f3744a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899797b1cb64574" /><Relationship Type="http://schemas.openxmlformats.org/officeDocument/2006/relationships/notesMaster" Target="/ppt/notesMasters/notesMaster1.xml" Id="R6bc23000283f4f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9adb980af4b41e2" /><Relationship Type="http://schemas.openxmlformats.org/officeDocument/2006/relationships/notesMaster" Target="/ppt/notesMasters/notesMaster1.xml" Id="R5457c82efaec429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e5590ec0772402c" /><Relationship Type="http://schemas.openxmlformats.org/officeDocument/2006/relationships/notesMaster" Target="/ppt/notesMasters/notesMaster1.xml" Id="Rf77bb723a66043c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bc3832f7372453f" /><Relationship Type="http://schemas.openxmlformats.org/officeDocument/2006/relationships/notesMaster" Target="/ppt/notesMasters/notesMaster1.xml" Id="R5eb2868b61fe4de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6d7ebd72998415f" /><Relationship Type="http://schemas.openxmlformats.org/officeDocument/2006/relationships/notesMaster" Target="/ppt/notesMasters/notesMaster1.xml" Id="Redf437e81a944e7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c065f27a74e42f5" /><Relationship Type="http://schemas.openxmlformats.org/officeDocument/2006/relationships/notesMaster" Target="/ppt/notesMasters/notesMaster1.xml" Id="Rf7aebf39bfbb4e4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121d2211e61456c" /><Relationship Type="http://schemas.openxmlformats.org/officeDocument/2006/relationships/notesMaster" Target="/ppt/notesMasters/notesMaster1.xml" Id="R6f837d2459c8480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d925abfce784cda" /><Relationship Type="http://schemas.openxmlformats.org/officeDocument/2006/relationships/notesMaster" Target="/ppt/notesMasters/notesMaster1.xml" Id="R4f9b7ff1efbe4c9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ddc3cf66a9846c7" /><Relationship Type="http://schemas.openxmlformats.org/officeDocument/2006/relationships/notesMaster" Target="/ppt/notesMasters/notesMaster1.xml" Id="R200e1c992e0649d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70054c83e864b8a" /><Relationship Type="http://schemas.openxmlformats.org/officeDocument/2006/relationships/notesMaster" Target="/ppt/notesMasters/notesMaster1.xml" Id="R5d7018fdf1e749f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b290e53ce574532" /><Relationship Type="http://schemas.openxmlformats.org/officeDocument/2006/relationships/notesMaster" Target="/ppt/notesMasters/notesMaster1.xml" Id="Ra714e7bd4d7e490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daa30ec13404290" /><Relationship Type="http://schemas.openxmlformats.org/officeDocument/2006/relationships/notesMaster" Target="/ppt/notesMasters/notesMaster1.xml" Id="Re3659c582ad940d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79da5dd98014c69" /><Relationship Type="http://schemas.openxmlformats.org/officeDocument/2006/relationships/notesMaster" Target="/ppt/notesMasters/notesMaster1.xml" Id="Rd2b1ba5f153049b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903ac18cd864170" /><Relationship Type="http://schemas.openxmlformats.org/officeDocument/2006/relationships/notesMaster" Target="/ppt/notesMasters/notesMaster1.xml" Id="R713a522b507e4c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explanation together. Invite the student to explain the main idea in their own words before continuing.</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printed pp. 38–46. Plain-language teaching paraphrase. Vocabulary explanations also draw on the user-supplied teaching screenshots. Classroom examples are applications, not textbook quotations.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explanation together. Invite the student to explain the main idea in their own words before continuing.</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printed p. 39. Plain-language teaching paraphrase. Vocabulary explanations also draw on the user-supplied teaching screenshots. Classroom examples are applications, not textbook quotations.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explanation together. Invite the student to explain the main idea in their own words before continuing.</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printed pp. 40–41. Plain-language teaching paraphrase. Vocabulary explanations also draw on the user-supplied teaching screenshots. Classroom examples are applications, not textbook quotations.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explanation together. Invite the student to explain the main idea in their own words before continuing.</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printed p. 40. Plain-language teaching paraphrase. Vocabulary explanations also draw on the user-supplied teaching screenshots. Classroom examples are applications, not textbook quotations.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user-supplied teaching reference also explains the maravasas as representing the angels around God’s throne. You may point this out when discussing the procession.</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printed p. 40. Plain-language teaching paraphrase. Vocabulary explanations also draw on the user-supplied teaching screenshots. Classroom examples are applications, not textbook quotations.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explanation together. Invite the student to explain the main idea in their own words before continuing.</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printed p. 40. Plain-language teaching paraphrase. Vocabulary explanations also draw on the user-supplied teaching screenshots. Classroom examples are applications, not textbook quotations.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explanation together. Invite the student to explain the main idea in their own words before continuing.</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printed p. 40. Plain-language teaching paraphrase. Vocabulary explanations also draw on the user-supplied teaching screenshots. Classroom examples are applications, not textbook quotations.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explanation together. Invite the student to explain the main idea in their own words before continuing.</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printed p. 40. Plain-language teaching paraphrase. Vocabulary explanations also draw on the user-supplied teaching screenshots. Classroom examples are applications, not textbook quotations.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explanation together. Invite the student to explain the main idea in their own words before continuing.</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printed p. 41. Plain-language teaching paraphrase. Vocabulary explanations also draw on the user-supplied teaching screenshots. Classroom examples are applications, not textbook quotations.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explanation together. Invite the student to explain the main idea in their own words before continuing.</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printed p. 41. Plain-language teaching paraphrase. Vocabulary explanations also draw on the user-supplied teaching screenshots. Classroom examples are applications, not textbook quotations.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explanation together. Invite the student to explain the main idea in their own words before continuing.</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printed pp. 38, 42. Plain-language teaching paraphrase. Vocabulary explanations also draw on the user-supplied teaching screenshots. Classroom examples are applications, not textbook quotations.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explanation together. Invite the student to explain the main idea in their own words before continuing.</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printed p. 42. Plain-language teaching paraphrase. Vocabulary explanations also draw on the user-supplied teaching screenshots. Classroom examples are applications, not textbook quotations.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explanation together. Invite the student to explain the main idea in their own words before continuing.</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printed p. 43. Plain-language teaching paraphrase. Vocabulary explanations also draw on the user-supplied teaching screenshots. Classroom examples are applications, not textbook quotations.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explanation together. Invite the student to explain the main idea in their own words before continuing.</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printed p. 43. Plain-language teaching paraphrase. Vocabulary explanations also draw on the user-supplied teaching screenshots. Classroom examples are applications, not textbook quotations.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explanation together. Invite the student to explain the main idea in their own words before continuing.</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printed p. 43. Plain-language teaching paraphrase. Vocabulary explanations also draw on the user-supplied teaching screenshots. Classroom examples are applications, not textbook quotations.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explanation together. Invite the student to explain the main idea in their own words before continuing.</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printed pp. 43–44. Plain-language teaching paraphrase. Vocabulary explanations also draw on the user-supplied teaching screenshots. Classroom examples are applications, not textbook quotations.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explanation together. Invite the student to explain the main idea in their own words before continuing.</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printed p. 44. Plain-language teaching paraphrase. Vocabulary explanations also draw on the user-supplied teaching screenshots. Classroom examples are applications, not textbook quotations.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explanation together. Invite the student to explain the main idea in their own words before continuing.</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printed p. 44. Plain-language teaching paraphrase. Vocabulary explanations also draw on the user-supplied teaching screenshots. Classroom examples are applications, not textbook quotations.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explanation together. Invite the student to explain the main idea in their own words before continuing.</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printed pp. 44–45. Plain-language teaching paraphrase. Vocabulary explanations also draw on the user-supplied teaching screenshots. Classroom examples are applications, not textbook quotations.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explanation together. Invite the student to explain the main idea in their own words before continuing.</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printed pp. 38, 45–46. Plain-language teaching paraphrase. Vocabulary explanations also draw on the user-supplied teaching screenshots. Classroom examples are applications, not textbook quotations.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time to explain in their own words. These are curriculum-based practice questions, not a request for exact memorized wording.</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printed pp. 39–45. Plain-language teaching paraphrase. Vocabulary explanations also draw on the user-supplied teaching screenshots. Classroom examples are applications, not textbook quotations.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explanation together. Invite the student to explain the main idea in their own words before continuing.</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printed pp. 39–45. Plain-language teaching paraphrase. Vocabulary explanations also draw on the user-supplied teaching screenshots. Classroom examples are applications, not textbook quotations.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6738fcbab04c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5ca40a7e4c45ba" /><Relationship Type="http://schemas.openxmlformats.org/officeDocument/2006/relationships/slideLayout" Target="/ppt/slideLayouts/slideLayout1.xml" Id="Re66c6a1ac1a440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6c6a1ac1a440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11b20efbc794a4c" /><Relationship Type="http://schemas.openxmlformats.org/officeDocument/2006/relationships/notesSlide" Target="/ppt/notesSlides/notesSlide1.xml" Id="Rda94f652b1bf4c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1185a790d094f4d" /><Relationship Type="http://schemas.openxmlformats.org/officeDocument/2006/relationships/notesSlide" Target="/ppt/notesSlides/notesSlide2.xml" Id="R38774c5bdaa349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2ae75e1fd064da0" /><Relationship Type="http://schemas.openxmlformats.org/officeDocument/2006/relationships/notesSlide" Target="/ppt/notesSlides/notesSlide3.xml" Id="Rd5f566c162684d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0e7a42be44a4133" /><Relationship Type="http://schemas.openxmlformats.org/officeDocument/2006/relationships/notesSlide" Target="/ppt/notesSlides/notesSlide4.xml" Id="Rd987c71626794d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744505da60b42ab" /><Relationship Type="http://schemas.openxmlformats.org/officeDocument/2006/relationships/notesSlide" Target="/ppt/notesSlides/notesSlide5.xml" Id="R63892bcbfc3944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c22f83852504a2d" /><Relationship Type="http://schemas.openxmlformats.org/officeDocument/2006/relationships/notesSlide" Target="/ppt/notesSlides/notesSlide6.xml" Id="Rc55a977c74484ba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3211609dd664b9e" /><Relationship Type="http://schemas.openxmlformats.org/officeDocument/2006/relationships/notesSlide" Target="/ppt/notesSlides/notesSlide7.xml" Id="R11544a5a62b74d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2b3760aeb604a8b" /><Relationship Type="http://schemas.openxmlformats.org/officeDocument/2006/relationships/notesSlide" Target="/ppt/notesSlides/notesSlide8.xml" Id="R42f2f815b752426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6c3aee54ae64bfb" /><Relationship Type="http://schemas.openxmlformats.org/officeDocument/2006/relationships/notesSlide" Target="/ppt/notesSlides/notesSlide9.xml" Id="Rd3c64f46001b454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f8a4dfff5594fb5" /><Relationship Type="http://schemas.openxmlformats.org/officeDocument/2006/relationships/notesSlide" Target="/ppt/notesSlides/notesSlide10.xml" Id="Re8035b62ff5b409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e58ec7265b44dee" /><Relationship Type="http://schemas.openxmlformats.org/officeDocument/2006/relationships/notesSlide" Target="/ppt/notesSlides/notesSlide11.xml" Id="Redf8b15fe1894b7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d3f21a6ad914f17" /><Relationship Type="http://schemas.openxmlformats.org/officeDocument/2006/relationships/notesSlide" Target="/ppt/notesSlides/notesSlide12.xml" Id="R2f65737b4aea43c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a44921fad38493a" /><Relationship Type="http://schemas.openxmlformats.org/officeDocument/2006/relationships/notesSlide" Target="/ppt/notesSlides/notesSlide13.xml" Id="R4d58f60b39f347a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1e27b0254c64f06" /><Relationship Type="http://schemas.openxmlformats.org/officeDocument/2006/relationships/notesSlide" Target="/ppt/notesSlides/notesSlide14.xml" Id="Ra45693a6a4254d7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b462a401dac44a2" /><Relationship Type="http://schemas.openxmlformats.org/officeDocument/2006/relationships/notesSlide" Target="/ppt/notesSlides/notesSlide15.xml" Id="Rd4128d00f93646c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7003fb0deaf4e58" /><Relationship Type="http://schemas.openxmlformats.org/officeDocument/2006/relationships/notesSlide" Target="/ppt/notesSlides/notesSlide16.xml" Id="Rd17944224cb54d7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41b5acfac17448d" /><Relationship Type="http://schemas.openxmlformats.org/officeDocument/2006/relationships/notesSlide" Target="/ppt/notesSlides/notesSlide17.xml" Id="R379c39581c2d419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f02a1b821874e12" /><Relationship Type="http://schemas.openxmlformats.org/officeDocument/2006/relationships/notesSlide" Target="/ppt/notesSlides/notesSlide18.xml" Id="R2546043e68db415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19b17a87a73400a" /><Relationship Type="http://schemas.openxmlformats.org/officeDocument/2006/relationships/notesSlide" Target="/ppt/notesSlides/notesSlide19.xml" Id="Rc124fee1901849e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0caf0d6781d4b25" /><Relationship Type="http://schemas.openxmlformats.org/officeDocument/2006/relationships/notesSlide" Target="/ppt/notesSlides/notesSlide20.xml" Id="R80a76192b60748e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35f7965ba324e8f" /><Relationship Type="http://schemas.openxmlformats.org/officeDocument/2006/relationships/notesSlide" Target="/ppt/notesSlides/notesSlide21.xml" Id="Ra9008767a1f642c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0a6e60290c14878" /><Relationship Type="http://schemas.openxmlformats.org/officeDocument/2006/relationships/notesSlide" Target="/ppt/notesSlides/notesSlide22.xml" Id="R147ce8f7ae324ca5" /></Relationships>
</file>

<file path=ppt/slides/slide1.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8D43246-37A2-4CC6-AE31-BC1ACE163508}"/>
              </a:ext>
            </a:extLst>
          </p:cNvPr>
          <p:cNvSpPr>
            <a:spLocks xmlns:a="http://schemas.openxmlformats.org/drawingml/2006/main" noGrp="1"/>
          </p:cNvSpPr>
          <p:nvPr/>
        </p:nvSpPr>
        <p:spPr>
          <a:xfrm xmlns:a="http://schemas.openxmlformats.org/drawingml/2006/main">
            <a:off x="723900" y="4953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1616"/>
                </a:solidFill>
                <a:latin typeface="Georgia"/>
                <a:ea typeface="Georgia"/>
                <a:cs typeface="Georgia"/>
              </a:defRPr>
            </a:pPr>
            <a:r>
              <a:rPr sz="3225" b="1">
                <a:solidFill>
                  <a:srgbClr val="161616"/>
                </a:solidFill>
                <a:latin typeface="Georgia"/>
                <a:ea typeface="Georgia"/>
                <a:cs typeface="Georgia"/>
              </a:rPr>
              <a:t>The Living Sacrifice</a:t>
            </a:r>
          </a:p>
        </p:txBody>
      </p:sp>
      <p:sp>
        <p:nvSpPr>
          <p:cNvPr id="2" name="">
            <a:extLst xmlns:a="http://schemas.openxmlformats.org/drawingml/2006/main">
              <a:ext uri="{FF2B5EF4-FFF2-40B4-BE49-F238E27FC236}">
                <a16:creationId xmlns:a16="http://schemas.microsoft.com/office/drawing/2014/main" id="{144309B4-4CA4-483E-8670-4134AC0566DB}"/>
              </a:ext>
            </a:extLst>
          </p:cNvPr>
          <p:cNvSpPr>
            <a:spLocks xmlns:a="http://schemas.openxmlformats.org/drawingml/2006/main" noGrp="1"/>
          </p:cNvSpPr>
          <p:nvPr/>
        </p:nvSpPr>
        <p:spPr>
          <a:xfrm xmlns:a="http://schemas.openxmlformats.org/drawingml/2006/main">
            <a:off x="723900" y="176212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Chapter 7 explains what happens during the Holy Qurbana and why it matters. The prayers and actions help us understand our relationship with Christ and with one another.</a:t>
            </a:r>
          </a:p>
        </p:txBody>
      </p:sp>
      <p:sp>
        <p:nvSpPr>
          <p:cNvPr id="3" name="">
            <a:extLst xmlns:a="http://schemas.openxmlformats.org/drawingml/2006/main">
              <a:ext uri="{FF2B5EF4-FFF2-40B4-BE49-F238E27FC236}">
                <a16:creationId xmlns:a16="http://schemas.microsoft.com/office/drawing/2014/main" id="{B83EDC9C-CABB-4EB3-BFC7-36B07A750D68}"/>
              </a:ext>
            </a:extLst>
          </p:cNvPr>
          <p:cNvSpPr>
            <a:spLocks xmlns:a="http://schemas.openxmlformats.org/drawingml/2006/main" noGrp="1"/>
          </p:cNvSpPr>
          <p:nvPr/>
        </p:nvSpPr>
        <p:spPr>
          <a:xfrm xmlns:a="http://schemas.openxmlformats.org/drawingml/2006/main">
            <a:off x="723900" y="3200400"/>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We will follow the service step by step, explain unfamiliar words, and connect what happens in church with how we live during the week.</a:t>
            </a:r>
          </a:p>
        </p:txBody>
      </p:sp>
      <p:sp>
        <p:nvSpPr>
          <p:cNvPr id="4" name="">
            <a:extLst xmlns:a="http://schemas.openxmlformats.org/drawingml/2006/main">
              <a:ext uri="{FF2B5EF4-FFF2-40B4-BE49-F238E27FC236}">
                <a16:creationId xmlns:a16="http://schemas.microsoft.com/office/drawing/2014/main" id="{D5162F81-344E-4132-9122-70537241560D}"/>
              </a:ext>
            </a:extLst>
          </p:cNvPr>
          <p:cNvSpPr>
            <a:spLocks xmlns:a="http://schemas.openxmlformats.org/drawingml/2006/main" noGrp="1"/>
          </p:cNvSpPr>
          <p:nvPr/>
        </p:nvSpPr>
        <p:spPr>
          <a:xfrm xmlns:a="http://schemas.openxmlformats.org/drawingml/2006/main">
            <a:off x="723900" y="64198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Talmido Chapter 7  /  pp. 38–46</a:t>
            </a:r>
          </a:p>
        </p:txBody>
      </p:sp>
      <p:sp>
        <p:nvSpPr>
          <p:cNvPr id="5" name="">
            <a:extLst xmlns:a="http://schemas.openxmlformats.org/drawingml/2006/main">
              <a:ext uri="{FF2B5EF4-FFF2-40B4-BE49-F238E27FC236}">
                <a16:creationId xmlns:a16="http://schemas.microsoft.com/office/drawing/2014/main" id="{E51672E1-2807-45B8-B055-E5DDB329104E}"/>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1</a:t>
            </a:r>
          </a:p>
        </p:txBody>
      </p:sp>
    </p:spTree>
    <p:extLst>
      <p:ext uri="{BB962C8B-B14F-4D97-AF65-F5344CB8AC3E}">
        <p14:creationId xmlns:p14="http://schemas.microsoft.com/office/powerpoint/2010/main" val="239931084"/>
      </p:ext>
    </p:extLst>
  </p:cSld>
</p:sld>
</file>

<file path=ppt/slides/slide2.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6BFE2A-7550-493B-8346-D209AEB2580A}"/>
              </a:ext>
            </a:extLst>
          </p:cNvPr>
          <p:cNvSpPr>
            <a:spLocks xmlns:a="http://schemas.openxmlformats.org/drawingml/2006/main" noGrp="1"/>
          </p:cNvSpPr>
          <p:nvPr/>
        </p:nvSpPr>
        <p:spPr>
          <a:xfrm xmlns:a="http://schemas.openxmlformats.org/drawingml/2006/main">
            <a:off x="723900" y="4953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1616"/>
                </a:solidFill>
                <a:latin typeface="Georgia"/>
                <a:ea typeface="Georgia"/>
                <a:cs typeface="Georgia"/>
              </a:defRPr>
            </a:pPr>
            <a:r>
              <a:rPr sz="3225" b="1">
                <a:solidFill>
                  <a:srgbClr val="161616"/>
                </a:solidFill>
                <a:latin typeface="Georgia"/>
                <a:ea typeface="Georgia"/>
                <a:cs typeface="Georgia"/>
              </a:rPr>
              <a:t>The big picture: two parts of worship</a:t>
            </a:r>
          </a:p>
        </p:txBody>
      </p:sp>
      <p:sp>
        <p:nvSpPr>
          <p:cNvPr id="2" name="">
            <a:extLst xmlns:a="http://schemas.openxmlformats.org/drawingml/2006/main">
              <a:ext uri="{FF2B5EF4-FFF2-40B4-BE49-F238E27FC236}">
                <a16:creationId xmlns:a16="http://schemas.microsoft.com/office/drawing/2014/main" id="{FC6D2E65-DD3A-4A93-A525-52AA2338C297}"/>
              </a:ext>
            </a:extLst>
          </p:cNvPr>
          <p:cNvSpPr>
            <a:spLocks xmlns:a="http://schemas.openxmlformats.org/drawingml/2006/main" noGrp="1"/>
          </p:cNvSpPr>
          <p:nvPr/>
        </p:nvSpPr>
        <p:spPr>
          <a:xfrm xmlns:a="http://schemas.openxmlformats.org/drawingml/2006/main">
            <a:off x="723900" y="176212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first part is the Pre-Anaphora, also called the Liturgy of the Word. We hear hymns, prayers, and Bible readings that prepare us for the Eucharistic offering.</a:t>
            </a:r>
          </a:p>
        </p:txBody>
      </p:sp>
      <p:sp>
        <p:nvSpPr>
          <p:cNvPr id="3" name="">
            <a:extLst xmlns:a="http://schemas.openxmlformats.org/drawingml/2006/main">
              <a:ext uri="{FF2B5EF4-FFF2-40B4-BE49-F238E27FC236}">
                <a16:creationId xmlns:a16="http://schemas.microsoft.com/office/drawing/2014/main" id="{78DBE316-3AA5-457C-BBBB-5D108AD6F388}"/>
              </a:ext>
            </a:extLst>
          </p:cNvPr>
          <p:cNvSpPr>
            <a:spLocks xmlns:a="http://schemas.openxmlformats.org/drawingml/2006/main" noGrp="1"/>
          </p:cNvSpPr>
          <p:nvPr/>
        </p:nvSpPr>
        <p:spPr>
          <a:xfrm xmlns:a="http://schemas.openxmlformats.org/drawingml/2006/main">
            <a:off x="723900" y="3200400"/>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second part is the Anaphora, also called the Liturgy of the Upper Room. It centers on the Eucharist and our participation in Christ’s Body and Blood.</a:t>
            </a:r>
          </a:p>
        </p:txBody>
      </p:sp>
      <p:sp>
        <p:nvSpPr>
          <p:cNvPr id="4" name="">
            <a:extLst xmlns:a="http://schemas.openxmlformats.org/drawingml/2006/main">
              <a:ext uri="{FF2B5EF4-FFF2-40B4-BE49-F238E27FC236}">
                <a16:creationId xmlns:a16="http://schemas.microsoft.com/office/drawing/2014/main" id="{33B5D131-DA6C-45B7-BE96-44DFE63350A4}"/>
              </a:ext>
            </a:extLst>
          </p:cNvPr>
          <p:cNvSpPr>
            <a:spLocks xmlns:a="http://schemas.openxmlformats.org/drawingml/2006/main" noGrp="1"/>
          </p:cNvSpPr>
          <p:nvPr/>
        </p:nvSpPr>
        <p:spPr>
          <a:xfrm xmlns:a="http://schemas.openxmlformats.org/drawingml/2006/main">
            <a:off x="723900" y="463867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main liturgy used in the Malankara Church is the Liturgy of St. James. The lesson connects our worship today with the worship of the Apostles.</a:t>
            </a:r>
          </a:p>
        </p:txBody>
      </p:sp>
      <p:sp>
        <p:nvSpPr>
          <p:cNvPr id="5" name="">
            <a:extLst xmlns:a="http://schemas.openxmlformats.org/drawingml/2006/main">
              <a:ext uri="{FF2B5EF4-FFF2-40B4-BE49-F238E27FC236}">
                <a16:creationId xmlns:a16="http://schemas.microsoft.com/office/drawing/2014/main" id="{C0B5FA84-2C5F-479E-AAA6-71BEDF6ECDFA}"/>
              </a:ext>
            </a:extLst>
          </p:cNvPr>
          <p:cNvSpPr>
            <a:spLocks xmlns:a="http://schemas.openxmlformats.org/drawingml/2006/main" noGrp="1"/>
          </p:cNvSpPr>
          <p:nvPr/>
        </p:nvSpPr>
        <p:spPr>
          <a:xfrm xmlns:a="http://schemas.openxmlformats.org/drawingml/2006/main">
            <a:off x="723900" y="64198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Talmido Chapter 7  /  p. 39</a:t>
            </a:r>
          </a:p>
        </p:txBody>
      </p:sp>
      <p:sp>
        <p:nvSpPr>
          <p:cNvPr id="6" name="">
            <a:extLst xmlns:a="http://schemas.openxmlformats.org/drawingml/2006/main">
              <a:ext uri="{FF2B5EF4-FFF2-40B4-BE49-F238E27FC236}">
                <a16:creationId xmlns:a16="http://schemas.microsoft.com/office/drawing/2014/main" id="{63FD834B-BF99-4E8C-BD8C-6D007C55587B}"/>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2</a:t>
            </a:r>
          </a:p>
        </p:txBody>
      </p:sp>
    </p:spTree>
    <p:extLst>
      <p:ext uri="{BB962C8B-B14F-4D97-AF65-F5344CB8AC3E}">
        <p14:creationId xmlns:p14="http://schemas.microsoft.com/office/powerpoint/2010/main" val="1045085827"/>
      </p:ext>
    </p:extLst>
  </p:cSld>
</p:sld>
</file>

<file path=ppt/slides/slide3.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0CF8D78-D7CC-4816-B908-6D9254C1D629}"/>
              </a:ext>
            </a:extLst>
          </p:cNvPr>
          <p:cNvSpPr>
            <a:spLocks xmlns:a="http://schemas.openxmlformats.org/drawingml/2006/main" noGrp="1"/>
          </p:cNvSpPr>
          <p:nvPr/>
        </p:nvSpPr>
        <p:spPr>
          <a:xfrm xmlns:a="http://schemas.openxmlformats.org/drawingml/2006/main">
            <a:off x="723900" y="4953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1616"/>
                </a:solidFill>
                <a:latin typeface="Georgia"/>
                <a:ea typeface="Georgia"/>
                <a:cs typeface="Georgia"/>
              </a:defRPr>
            </a:pPr>
            <a:r>
              <a:rPr sz="3225" b="1">
                <a:solidFill>
                  <a:srgbClr val="161616"/>
                </a:solidFill>
                <a:latin typeface="Georgia"/>
                <a:ea typeface="Georgia"/>
                <a:cs typeface="Georgia"/>
              </a:rPr>
              <a:t>Who were the catechumens?</a:t>
            </a:r>
          </a:p>
        </p:txBody>
      </p:sp>
      <p:sp>
        <p:nvSpPr>
          <p:cNvPr id="2" name="">
            <a:extLst xmlns:a="http://schemas.openxmlformats.org/drawingml/2006/main">
              <a:ext uri="{FF2B5EF4-FFF2-40B4-BE49-F238E27FC236}">
                <a16:creationId xmlns:a16="http://schemas.microsoft.com/office/drawing/2014/main" id="{B8ECBB25-447F-4BAD-AB08-3674D3BC3F91}"/>
              </a:ext>
            </a:extLst>
          </p:cNvPr>
          <p:cNvSpPr>
            <a:spLocks xmlns:a="http://schemas.openxmlformats.org/drawingml/2006/main" noGrp="1"/>
          </p:cNvSpPr>
          <p:nvPr/>
        </p:nvSpPr>
        <p:spPr>
          <a:xfrm xmlns:a="http://schemas.openxmlformats.org/drawingml/2006/main">
            <a:off x="723900" y="176212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Catechumens are people learning the Christian faith in preparation for baptism. This is why the first part also has the name Liturgy of the Catechumens.</a:t>
            </a:r>
          </a:p>
        </p:txBody>
      </p:sp>
      <p:sp>
        <p:nvSpPr>
          <p:cNvPr id="3" name="">
            <a:extLst xmlns:a="http://schemas.openxmlformats.org/drawingml/2006/main">
              <a:ext uri="{FF2B5EF4-FFF2-40B4-BE49-F238E27FC236}">
                <a16:creationId xmlns:a16="http://schemas.microsoft.com/office/drawing/2014/main" id="{7C021AF5-9D73-4DCA-BA79-34D3202EB064}"/>
              </a:ext>
            </a:extLst>
          </p:cNvPr>
          <p:cNvSpPr>
            <a:spLocks xmlns:a="http://schemas.openxmlformats.org/drawingml/2006/main" noGrp="1"/>
          </p:cNvSpPr>
          <p:nvPr/>
        </p:nvSpPr>
        <p:spPr>
          <a:xfrm xmlns:a="http://schemas.openxmlformats.org/drawingml/2006/main">
            <a:off x="723900" y="3200400"/>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Historically, catechumens stayed for the hymns and Scripture readings. They left before the Anaphora, while the baptized faithful continued with the Eucharistic worship.</a:t>
            </a:r>
          </a:p>
        </p:txBody>
      </p:sp>
      <p:sp>
        <p:nvSpPr>
          <p:cNvPr id="4" name="">
            <a:extLst xmlns:a="http://schemas.openxmlformats.org/drawingml/2006/main">
              <a:ext uri="{FF2B5EF4-FFF2-40B4-BE49-F238E27FC236}">
                <a16:creationId xmlns:a16="http://schemas.microsoft.com/office/drawing/2014/main" id="{F68F9050-E6D4-4238-9AD7-2CB277234086}"/>
              </a:ext>
            </a:extLst>
          </p:cNvPr>
          <p:cNvSpPr>
            <a:spLocks xmlns:a="http://schemas.openxmlformats.org/drawingml/2006/main" noGrp="1"/>
          </p:cNvSpPr>
          <p:nvPr/>
        </p:nvSpPr>
        <p:spPr>
          <a:xfrm xmlns:a="http://schemas.openxmlformats.org/drawingml/2006/main">
            <a:off x="723900" y="463867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These names help us remember the movement of the service: we hear God’s Word, then enter the Eucharistic offering.</a:t>
            </a:r>
          </a:p>
        </p:txBody>
      </p:sp>
      <p:sp>
        <p:nvSpPr>
          <p:cNvPr id="5" name="">
            <a:extLst xmlns:a="http://schemas.openxmlformats.org/drawingml/2006/main">
              <a:ext uri="{FF2B5EF4-FFF2-40B4-BE49-F238E27FC236}">
                <a16:creationId xmlns:a16="http://schemas.microsoft.com/office/drawing/2014/main" id="{6E7F2678-5009-49EF-B975-2589F9142E46}"/>
              </a:ext>
            </a:extLst>
          </p:cNvPr>
          <p:cNvSpPr>
            <a:spLocks xmlns:a="http://schemas.openxmlformats.org/drawingml/2006/main" noGrp="1"/>
          </p:cNvSpPr>
          <p:nvPr/>
        </p:nvSpPr>
        <p:spPr>
          <a:xfrm xmlns:a="http://schemas.openxmlformats.org/drawingml/2006/main">
            <a:off x="723900" y="64198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Talmido Chapter 7  /  pp. 40–41</a:t>
            </a:r>
          </a:p>
        </p:txBody>
      </p:sp>
      <p:sp>
        <p:nvSpPr>
          <p:cNvPr id="6" name="">
            <a:extLst xmlns:a="http://schemas.openxmlformats.org/drawingml/2006/main">
              <a:ext uri="{FF2B5EF4-FFF2-40B4-BE49-F238E27FC236}">
                <a16:creationId xmlns:a16="http://schemas.microsoft.com/office/drawing/2014/main" id="{CC37645E-CE9C-4616-839F-7EE64109ABA6}"/>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3</a:t>
            </a:r>
          </a:p>
        </p:txBody>
      </p:sp>
    </p:spTree>
    <p:extLst>
      <p:ext uri="{BB962C8B-B14F-4D97-AF65-F5344CB8AC3E}">
        <p14:creationId xmlns:p14="http://schemas.microsoft.com/office/powerpoint/2010/main" val="1376354499"/>
      </p:ext>
    </p:extLst>
  </p:cSld>
</p:sld>
</file>

<file path=ppt/slides/slide4.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8DE8DD1-2B67-4347-800E-81568726DC50}"/>
              </a:ext>
            </a:extLst>
          </p:cNvPr>
          <p:cNvSpPr>
            <a:spLocks xmlns:a="http://schemas.openxmlformats.org/drawingml/2006/main" noGrp="1"/>
          </p:cNvSpPr>
          <p:nvPr/>
        </p:nvSpPr>
        <p:spPr>
          <a:xfrm xmlns:a="http://schemas.openxmlformats.org/drawingml/2006/main">
            <a:off x="723900" y="4953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1616"/>
                </a:solidFill>
                <a:latin typeface="Georgia"/>
                <a:ea typeface="Georgia"/>
                <a:cs typeface="Georgia"/>
              </a:defRPr>
            </a:pPr>
            <a:r>
              <a:rPr sz="3225" b="1">
                <a:solidFill>
                  <a:srgbClr val="161616"/>
                </a:solidFill>
                <a:latin typeface="Georgia"/>
                <a:ea typeface="Georgia"/>
                <a:cs typeface="Georgia"/>
              </a:rPr>
              <a:t>1. The curtain opens and the hymn begins</a:t>
            </a:r>
          </a:p>
        </p:txBody>
      </p:sp>
      <p:sp>
        <p:nvSpPr>
          <p:cNvPr id="2" name="">
            <a:extLst xmlns:a="http://schemas.openxmlformats.org/drawingml/2006/main">
              <a:ext uri="{FF2B5EF4-FFF2-40B4-BE49-F238E27FC236}">
                <a16:creationId xmlns:a16="http://schemas.microsoft.com/office/drawing/2014/main" id="{C2047F2A-EE42-43C3-BD27-EEB72FBF341A}"/>
              </a:ext>
            </a:extLst>
          </p:cNvPr>
          <p:cNvSpPr>
            <a:spLocks xmlns:a="http://schemas.openxmlformats.org/drawingml/2006/main" noGrp="1"/>
          </p:cNvSpPr>
          <p:nvPr/>
        </p:nvSpPr>
        <p:spPr>
          <a:xfrm xmlns:a="http://schemas.openxmlformats.org/drawingml/2006/main">
            <a:off x="723900" y="176212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As the curtain opens, the priest asks St. Mary, the mother of Jesus, and St. John the Baptist to intercede for us. Intercede means to pray on someone else’s behalf.</a:t>
            </a:r>
          </a:p>
        </p:txBody>
      </p:sp>
      <p:sp>
        <p:nvSpPr>
          <p:cNvPr id="3" name="">
            <a:extLst xmlns:a="http://schemas.openxmlformats.org/drawingml/2006/main">
              <a:ext uri="{FF2B5EF4-FFF2-40B4-BE49-F238E27FC236}">
                <a16:creationId xmlns:a16="http://schemas.microsoft.com/office/drawing/2014/main" id="{5C536453-991E-472D-9F79-8FA4A1185C78}"/>
              </a:ext>
            </a:extLst>
          </p:cNvPr>
          <p:cNvSpPr>
            <a:spLocks xmlns:a="http://schemas.openxmlformats.org/drawingml/2006/main" noGrp="1"/>
          </p:cNvSpPr>
          <p:nvPr/>
        </p:nvSpPr>
        <p:spPr>
          <a:xfrm xmlns:a="http://schemas.openxmlformats.org/drawingml/2006/main">
            <a:off x="723900" y="3200400"/>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Then we sing the Maneesa, also called Ma’nitho, of St. Severus. The textbook describes this hymn as a summary of our Orthodox faith and of God’s love for us.</a:t>
            </a:r>
          </a:p>
        </p:txBody>
      </p:sp>
      <p:sp>
        <p:nvSpPr>
          <p:cNvPr id="4" name="">
            <a:extLst xmlns:a="http://schemas.openxmlformats.org/drawingml/2006/main">
              <a:ext uri="{FF2B5EF4-FFF2-40B4-BE49-F238E27FC236}">
                <a16:creationId xmlns:a16="http://schemas.microsoft.com/office/drawing/2014/main" id="{1BD8CB9F-E58C-4C95-A02A-C0E36383D56E}"/>
              </a:ext>
            </a:extLst>
          </p:cNvPr>
          <p:cNvSpPr>
            <a:spLocks xmlns:a="http://schemas.openxmlformats.org/drawingml/2006/main" noGrp="1"/>
          </p:cNvSpPr>
          <p:nvPr/>
        </p:nvSpPr>
        <p:spPr>
          <a:xfrm xmlns:a="http://schemas.openxmlformats.org/drawingml/2006/main">
            <a:off x="723900" y="463867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unfamiliar name belongs to a familiar action: the Church begins by singing its faith together.</a:t>
            </a:r>
          </a:p>
        </p:txBody>
      </p:sp>
      <p:sp>
        <p:nvSpPr>
          <p:cNvPr id="5" name="">
            <a:extLst xmlns:a="http://schemas.openxmlformats.org/drawingml/2006/main">
              <a:ext uri="{FF2B5EF4-FFF2-40B4-BE49-F238E27FC236}">
                <a16:creationId xmlns:a16="http://schemas.microsoft.com/office/drawing/2014/main" id="{B8C02B26-7F11-4A6B-8102-391A977DAABA}"/>
              </a:ext>
            </a:extLst>
          </p:cNvPr>
          <p:cNvSpPr>
            <a:spLocks xmlns:a="http://schemas.openxmlformats.org/drawingml/2006/main" noGrp="1"/>
          </p:cNvSpPr>
          <p:nvPr/>
        </p:nvSpPr>
        <p:spPr>
          <a:xfrm xmlns:a="http://schemas.openxmlformats.org/drawingml/2006/main">
            <a:off x="723900" y="64198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Talmido Chapter 7  /  p. 40</a:t>
            </a:r>
          </a:p>
        </p:txBody>
      </p:sp>
      <p:sp>
        <p:nvSpPr>
          <p:cNvPr id="6" name="">
            <a:extLst xmlns:a="http://schemas.openxmlformats.org/drawingml/2006/main">
              <a:ext uri="{FF2B5EF4-FFF2-40B4-BE49-F238E27FC236}">
                <a16:creationId xmlns:a16="http://schemas.microsoft.com/office/drawing/2014/main" id="{E9E9A42D-88D4-4AE7-8CB5-5C6F7419AD75}"/>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4</a:t>
            </a:r>
          </a:p>
        </p:txBody>
      </p:sp>
    </p:spTree>
    <p:extLst>
      <p:ext uri="{BB962C8B-B14F-4D97-AF65-F5344CB8AC3E}">
        <p14:creationId xmlns:p14="http://schemas.microsoft.com/office/powerpoint/2010/main" val="396694519"/>
      </p:ext>
    </p:extLst>
  </p:cSld>
</p:sld>
</file>

<file path=ppt/slides/slide5.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84A357-BDB5-4BDE-B4BF-C5F86D9857B7}"/>
              </a:ext>
            </a:extLst>
          </p:cNvPr>
          <p:cNvSpPr>
            <a:spLocks xmlns:a="http://schemas.openxmlformats.org/drawingml/2006/main" noGrp="1"/>
          </p:cNvSpPr>
          <p:nvPr/>
        </p:nvSpPr>
        <p:spPr>
          <a:xfrm xmlns:a="http://schemas.openxmlformats.org/drawingml/2006/main">
            <a:off x="723900" y="4953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1616"/>
                </a:solidFill>
                <a:latin typeface="Georgia"/>
                <a:ea typeface="Georgia"/>
                <a:cs typeface="Georgia"/>
              </a:defRPr>
            </a:pPr>
            <a:r>
              <a:rPr sz="3225" b="1">
                <a:solidFill>
                  <a:srgbClr val="161616"/>
                </a:solidFill>
                <a:latin typeface="Georgia"/>
                <a:ea typeface="Georgia"/>
                <a:cs typeface="Georgia"/>
              </a:rPr>
              <a:t>2. The procession tells a Gospel story</a:t>
            </a:r>
          </a:p>
        </p:txBody>
      </p:sp>
      <p:sp>
        <p:nvSpPr>
          <p:cNvPr id="2" name="">
            <a:extLst xmlns:a="http://schemas.openxmlformats.org/drawingml/2006/main">
              <a:ext uri="{FF2B5EF4-FFF2-40B4-BE49-F238E27FC236}">
                <a16:creationId xmlns:a16="http://schemas.microsoft.com/office/drawing/2014/main" id="{302B1A94-F12B-44C6-9C92-4231CDAE4E79}"/>
              </a:ext>
            </a:extLst>
          </p:cNvPr>
          <p:cNvSpPr>
            <a:spLocks xmlns:a="http://schemas.openxmlformats.org/drawingml/2006/main" noGrp="1"/>
          </p:cNvSpPr>
          <p:nvPr/>
        </p:nvSpPr>
        <p:spPr>
          <a:xfrm xmlns:a="http://schemas.openxmlformats.org/drawingml/2006/main">
            <a:off x="723900" y="176212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A server carries a candle ahead of the priest. The candle bearer represents John the Baptist, who prepared the way for Jesus. This is why John is called the Forerunner.</a:t>
            </a:r>
          </a:p>
        </p:txBody>
      </p:sp>
      <p:sp>
        <p:nvSpPr>
          <p:cNvPr id="3" name="">
            <a:extLst xmlns:a="http://schemas.openxmlformats.org/drawingml/2006/main">
              <a:ext uri="{FF2B5EF4-FFF2-40B4-BE49-F238E27FC236}">
                <a16:creationId xmlns:a16="http://schemas.microsoft.com/office/drawing/2014/main" id="{BD1975D4-14D9-497C-BF54-BE4FE0833664}"/>
              </a:ext>
            </a:extLst>
          </p:cNvPr>
          <p:cNvSpPr>
            <a:spLocks xmlns:a="http://schemas.openxmlformats.org/drawingml/2006/main" noGrp="1"/>
          </p:cNvSpPr>
          <p:nvPr/>
        </p:nvSpPr>
        <p:spPr>
          <a:xfrm xmlns:a="http://schemas.openxmlformats.org/drawingml/2006/main">
            <a:off x="723900" y="3200400"/>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priest represents Christ. Servers carrying maravasas accompany the procession around the altar. Maravasas are the ceremonial metal fans used in worship.</a:t>
            </a:r>
          </a:p>
        </p:txBody>
      </p:sp>
      <p:sp>
        <p:nvSpPr>
          <p:cNvPr id="4" name="">
            <a:extLst xmlns:a="http://schemas.openxmlformats.org/drawingml/2006/main">
              <a:ext uri="{FF2B5EF4-FFF2-40B4-BE49-F238E27FC236}">
                <a16:creationId xmlns:a16="http://schemas.microsoft.com/office/drawing/2014/main" id="{D6554BCE-213D-4A60-8E68-5252A6D63433}"/>
              </a:ext>
            </a:extLst>
          </p:cNvPr>
          <p:cNvSpPr>
            <a:spLocks xmlns:a="http://schemas.openxmlformats.org/drawingml/2006/main" noGrp="1"/>
          </p:cNvSpPr>
          <p:nvPr/>
        </p:nvSpPr>
        <p:spPr>
          <a:xfrm xmlns:a="http://schemas.openxmlformats.org/drawingml/2006/main">
            <a:off x="723900" y="463867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order helps us remember the Gospel: John prepares the way, then Christ comes. Ask: Why does the candle bearer walk ahead?</a:t>
            </a:r>
          </a:p>
        </p:txBody>
      </p:sp>
      <p:sp>
        <p:nvSpPr>
          <p:cNvPr id="5" name="">
            <a:extLst xmlns:a="http://schemas.openxmlformats.org/drawingml/2006/main">
              <a:ext uri="{FF2B5EF4-FFF2-40B4-BE49-F238E27FC236}">
                <a16:creationId xmlns:a16="http://schemas.microsoft.com/office/drawing/2014/main" id="{EB5A8234-6D00-4501-BBB1-528C1A2B92FB}"/>
              </a:ext>
            </a:extLst>
          </p:cNvPr>
          <p:cNvSpPr>
            <a:spLocks xmlns:a="http://schemas.openxmlformats.org/drawingml/2006/main" noGrp="1"/>
          </p:cNvSpPr>
          <p:nvPr/>
        </p:nvSpPr>
        <p:spPr>
          <a:xfrm xmlns:a="http://schemas.openxmlformats.org/drawingml/2006/main">
            <a:off x="723900" y="64198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Talmido Chapter 7  /  p. 40</a:t>
            </a:r>
          </a:p>
        </p:txBody>
      </p:sp>
      <p:sp>
        <p:nvSpPr>
          <p:cNvPr id="6" name="">
            <a:extLst xmlns:a="http://schemas.openxmlformats.org/drawingml/2006/main">
              <a:ext uri="{FF2B5EF4-FFF2-40B4-BE49-F238E27FC236}">
                <a16:creationId xmlns:a16="http://schemas.microsoft.com/office/drawing/2014/main" id="{D10F1959-2C10-4D36-A652-E3E5617C8B32}"/>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5</a:t>
            </a:r>
          </a:p>
        </p:txBody>
      </p:sp>
    </p:spTree>
    <p:extLst>
      <p:ext uri="{BB962C8B-B14F-4D97-AF65-F5344CB8AC3E}">
        <p14:creationId xmlns:p14="http://schemas.microsoft.com/office/powerpoint/2010/main" val="128055428"/>
      </p:ext>
    </p:extLst>
  </p:cSld>
</p:sld>
</file>

<file path=ppt/slides/slide6.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393EECA-F8D8-4306-B325-6C800DF3BD5A}"/>
              </a:ext>
            </a:extLst>
          </p:cNvPr>
          <p:cNvSpPr>
            <a:spLocks xmlns:a="http://schemas.openxmlformats.org/drawingml/2006/main" noGrp="1"/>
          </p:cNvSpPr>
          <p:nvPr/>
        </p:nvSpPr>
        <p:spPr>
          <a:xfrm xmlns:a="http://schemas.openxmlformats.org/drawingml/2006/main">
            <a:off x="723900" y="4953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1616"/>
                </a:solidFill>
                <a:latin typeface="Georgia"/>
                <a:ea typeface="Georgia"/>
                <a:cs typeface="Georgia"/>
              </a:defRPr>
            </a:pPr>
            <a:r>
              <a:rPr sz="3225" b="1">
                <a:solidFill>
                  <a:srgbClr val="161616"/>
                </a:solidFill>
                <a:latin typeface="Georgia"/>
                <a:ea typeface="Georgia"/>
                <a:cs typeface="Georgia"/>
              </a:rPr>
              <a:t>3. The Trisagion: a prayer of holiness</a:t>
            </a:r>
          </a:p>
        </p:txBody>
      </p:sp>
      <p:sp>
        <p:nvSpPr>
          <p:cNvPr id="2" name="">
            <a:extLst xmlns:a="http://schemas.openxmlformats.org/drawingml/2006/main">
              <a:ext uri="{FF2B5EF4-FFF2-40B4-BE49-F238E27FC236}">
                <a16:creationId xmlns:a16="http://schemas.microsoft.com/office/drawing/2014/main" id="{94A5F6E3-090E-4C0B-A3C3-37ECC32EFC5C}"/>
              </a:ext>
            </a:extLst>
          </p:cNvPr>
          <p:cNvSpPr>
            <a:spLocks xmlns:a="http://schemas.openxmlformats.org/drawingml/2006/main" noGrp="1"/>
          </p:cNvSpPr>
          <p:nvPr/>
        </p:nvSpPr>
        <p:spPr>
          <a:xfrm xmlns:a="http://schemas.openxmlformats.org/drawingml/2006/main">
            <a:off x="723900" y="176212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Trisagion is the prayer beginning “Holy art Thou, O God.” Its name means “three times holy.” The prayer praises God’s holiness and asks for mercy.</a:t>
            </a:r>
          </a:p>
        </p:txBody>
      </p:sp>
      <p:sp>
        <p:nvSpPr>
          <p:cNvPr id="3" name="">
            <a:extLst xmlns:a="http://schemas.openxmlformats.org/drawingml/2006/main">
              <a:ext uri="{FF2B5EF4-FFF2-40B4-BE49-F238E27FC236}">
                <a16:creationId xmlns:a16="http://schemas.microsoft.com/office/drawing/2014/main" id="{2D8614FA-B530-46C5-82B6-0E9B4A0FEC3B}"/>
              </a:ext>
            </a:extLst>
          </p:cNvPr>
          <p:cNvSpPr>
            <a:spLocks xmlns:a="http://schemas.openxmlformats.org/drawingml/2006/main" noGrp="1"/>
          </p:cNvSpPr>
          <p:nvPr/>
        </p:nvSpPr>
        <p:spPr>
          <a:xfrm xmlns:a="http://schemas.openxmlformats.org/drawingml/2006/main">
            <a:off x="723900" y="3200400"/>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textbook shares a Church tradition about Joseph of Arimathea and Nicodemus hearing heavenly praise while carrying Jesus’ body. They added the words about Christ’s crucifixion.</a:t>
            </a:r>
          </a:p>
        </p:txBody>
      </p:sp>
      <p:sp>
        <p:nvSpPr>
          <p:cNvPr id="4" name="">
            <a:extLst xmlns:a="http://schemas.openxmlformats.org/drawingml/2006/main">
              <a:ext uri="{FF2B5EF4-FFF2-40B4-BE49-F238E27FC236}">
                <a16:creationId xmlns:a16="http://schemas.microsoft.com/office/drawing/2014/main" id="{9AEB94F4-2231-43BF-860A-2F63533A0CDB}"/>
              </a:ext>
            </a:extLst>
          </p:cNvPr>
          <p:cNvSpPr>
            <a:spLocks xmlns:a="http://schemas.openxmlformats.org/drawingml/2006/main" noGrp="1"/>
          </p:cNvSpPr>
          <p:nvPr/>
        </p:nvSpPr>
        <p:spPr>
          <a:xfrm xmlns:a="http://schemas.openxmlformats.org/drawingml/2006/main">
            <a:off x="723900" y="463867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This is why the lesson calls the prayer a combination of angelic and human praise. This account is a liturgical tradition, rather than a scene narrated in the Gospels.</a:t>
            </a:r>
          </a:p>
        </p:txBody>
      </p:sp>
      <p:sp>
        <p:nvSpPr>
          <p:cNvPr id="5" name="">
            <a:extLst xmlns:a="http://schemas.openxmlformats.org/drawingml/2006/main">
              <a:ext uri="{FF2B5EF4-FFF2-40B4-BE49-F238E27FC236}">
                <a16:creationId xmlns:a16="http://schemas.microsoft.com/office/drawing/2014/main" id="{BBFABB8F-3F3D-4CE6-A0E5-90E30F5912CE}"/>
              </a:ext>
            </a:extLst>
          </p:cNvPr>
          <p:cNvSpPr>
            <a:spLocks xmlns:a="http://schemas.openxmlformats.org/drawingml/2006/main" noGrp="1"/>
          </p:cNvSpPr>
          <p:nvPr/>
        </p:nvSpPr>
        <p:spPr>
          <a:xfrm xmlns:a="http://schemas.openxmlformats.org/drawingml/2006/main">
            <a:off x="723900" y="64198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Talmido Chapter 7  /  p. 40</a:t>
            </a:r>
          </a:p>
        </p:txBody>
      </p:sp>
      <p:sp>
        <p:nvSpPr>
          <p:cNvPr id="6" name="">
            <a:extLst xmlns:a="http://schemas.openxmlformats.org/drawingml/2006/main">
              <a:ext uri="{FF2B5EF4-FFF2-40B4-BE49-F238E27FC236}">
                <a16:creationId xmlns:a16="http://schemas.microsoft.com/office/drawing/2014/main" id="{529D7AD6-A12C-4A28-A88A-3B96266624B2}"/>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6</a:t>
            </a:r>
          </a:p>
        </p:txBody>
      </p:sp>
    </p:spTree>
    <p:extLst>
      <p:ext uri="{BB962C8B-B14F-4D97-AF65-F5344CB8AC3E}">
        <p14:creationId xmlns:p14="http://schemas.microsoft.com/office/powerpoint/2010/main" val="1494856337"/>
      </p:ext>
    </p:extLst>
  </p:cSld>
</p:sld>
</file>

<file path=ppt/slides/slide7.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ED829D-73C9-46AE-A75E-BAF49D166F86}"/>
              </a:ext>
            </a:extLst>
          </p:cNvPr>
          <p:cNvSpPr>
            <a:spLocks xmlns:a="http://schemas.openxmlformats.org/drawingml/2006/main" noGrp="1"/>
          </p:cNvSpPr>
          <p:nvPr/>
        </p:nvSpPr>
        <p:spPr>
          <a:xfrm xmlns:a="http://schemas.openxmlformats.org/drawingml/2006/main">
            <a:off x="723900" y="4953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1616"/>
                </a:solidFill>
                <a:latin typeface="Georgia"/>
                <a:ea typeface="Georgia"/>
                <a:cs typeface="Georgia"/>
              </a:defRPr>
            </a:pPr>
            <a:r>
              <a:rPr sz="3225" b="1">
                <a:solidFill>
                  <a:srgbClr val="161616"/>
                </a:solidFill>
                <a:latin typeface="Georgia"/>
                <a:ea typeface="Georgia"/>
                <a:cs typeface="Georgia"/>
              </a:rPr>
              <a:t>4. The Bible readings, in order</a:t>
            </a:r>
          </a:p>
        </p:txBody>
      </p:sp>
      <p:sp>
        <p:nvSpPr>
          <p:cNvPr id="2" name="">
            <a:extLst xmlns:a="http://schemas.openxmlformats.org/drawingml/2006/main">
              <a:ext uri="{FF2B5EF4-FFF2-40B4-BE49-F238E27FC236}">
                <a16:creationId xmlns:a16="http://schemas.microsoft.com/office/drawing/2014/main" id="{88187173-66FE-4688-93B5-D652D1B0A185}"/>
              </a:ext>
            </a:extLst>
          </p:cNvPr>
          <p:cNvSpPr>
            <a:spLocks xmlns:a="http://schemas.openxmlformats.org/drawingml/2006/main" noGrp="1"/>
          </p:cNvSpPr>
          <p:nvPr/>
        </p:nvSpPr>
        <p:spPr>
          <a:xfrm xmlns:a="http://schemas.openxmlformats.org/drawingml/2006/main">
            <a:off x="723900" y="176212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First comes a reading from Acts or the Catholic Epistles, read from the northern step of the sanctuary. Catholic Epistles means the general letters of James, Peter, John, and Jude.</a:t>
            </a:r>
          </a:p>
        </p:txBody>
      </p:sp>
      <p:sp>
        <p:nvSpPr>
          <p:cNvPr id="3" name="">
            <a:extLst xmlns:a="http://schemas.openxmlformats.org/drawingml/2006/main">
              <a:ext uri="{FF2B5EF4-FFF2-40B4-BE49-F238E27FC236}">
                <a16:creationId xmlns:a16="http://schemas.microsoft.com/office/drawing/2014/main" id="{2BFD5EBA-17DE-46E2-B98F-A3F9EFFDF9CD}"/>
              </a:ext>
            </a:extLst>
          </p:cNvPr>
          <p:cNvSpPr>
            <a:spLocks xmlns:a="http://schemas.openxmlformats.org/drawingml/2006/main" noGrp="1"/>
          </p:cNvSpPr>
          <p:nvPr/>
        </p:nvSpPr>
        <p:spPr>
          <a:xfrm xmlns:a="http://schemas.openxmlformats.org/drawingml/2006/main">
            <a:off x="723900" y="3200400"/>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Second comes a reading from St. Paul’s letters, from the southern step. Then the priest reads the Gospel from the center of the Madbaha, the altar area.</a:t>
            </a:r>
          </a:p>
        </p:txBody>
      </p:sp>
      <p:sp>
        <p:nvSpPr>
          <p:cNvPr id="4" name="">
            <a:extLst xmlns:a="http://schemas.openxmlformats.org/drawingml/2006/main">
              <a:ext uri="{FF2B5EF4-FFF2-40B4-BE49-F238E27FC236}">
                <a16:creationId xmlns:a16="http://schemas.microsoft.com/office/drawing/2014/main" id="{F8E5177C-0077-42C9-A8BA-9BDDB4ADAB9C}"/>
              </a:ext>
            </a:extLst>
          </p:cNvPr>
          <p:cNvSpPr>
            <a:spLocks xmlns:a="http://schemas.openxmlformats.org/drawingml/2006/main" noGrp="1"/>
          </p:cNvSpPr>
          <p:nvPr/>
        </p:nvSpPr>
        <p:spPr>
          <a:xfrm xmlns:a="http://schemas.openxmlformats.org/drawingml/2006/main">
            <a:off x="723900" y="463867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Here, “catholic” means universal. The name describes the general letters and does not mean that the reading comes from the Roman Catholic Church.</a:t>
            </a:r>
          </a:p>
        </p:txBody>
      </p:sp>
      <p:sp>
        <p:nvSpPr>
          <p:cNvPr id="5" name="">
            <a:extLst xmlns:a="http://schemas.openxmlformats.org/drawingml/2006/main">
              <a:ext uri="{FF2B5EF4-FFF2-40B4-BE49-F238E27FC236}">
                <a16:creationId xmlns:a16="http://schemas.microsoft.com/office/drawing/2014/main" id="{DA809BDF-D1BB-41A8-951A-FF4C2D7A6E74}"/>
              </a:ext>
            </a:extLst>
          </p:cNvPr>
          <p:cNvSpPr>
            <a:spLocks xmlns:a="http://schemas.openxmlformats.org/drawingml/2006/main" noGrp="1"/>
          </p:cNvSpPr>
          <p:nvPr/>
        </p:nvSpPr>
        <p:spPr>
          <a:xfrm xmlns:a="http://schemas.openxmlformats.org/drawingml/2006/main">
            <a:off x="723900" y="64198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Talmido Chapter 7  /  p. 40</a:t>
            </a:r>
          </a:p>
        </p:txBody>
      </p:sp>
      <p:sp>
        <p:nvSpPr>
          <p:cNvPr id="6" name="">
            <a:extLst xmlns:a="http://schemas.openxmlformats.org/drawingml/2006/main">
              <a:ext uri="{FF2B5EF4-FFF2-40B4-BE49-F238E27FC236}">
                <a16:creationId xmlns:a16="http://schemas.microsoft.com/office/drawing/2014/main" id="{EC750661-3144-4B7E-B173-E1C8406B4734}"/>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7</a:t>
            </a:r>
          </a:p>
        </p:txBody>
      </p:sp>
    </p:spTree>
    <p:extLst>
      <p:ext uri="{BB962C8B-B14F-4D97-AF65-F5344CB8AC3E}">
        <p14:creationId xmlns:p14="http://schemas.microsoft.com/office/powerpoint/2010/main" val="271096989"/>
      </p:ext>
    </p:extLst>
  </p:cSld>
</p:sld>
</file>

<file path=ppt/slides/slide8.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7DED47D-6145-44AE-88E7-38587D034F6E}"/>
              </a:ext>
            </a:extLst>
          </p:cNvPr>
          <p:cNvSpPr>
            <a:spLocks xmlns:a="http://schemas.openxmlformats.org/drawingml/2006/main" noGrp="1"/>
          </p:cNvSpPr>
          <p:nvPr/>
        </p:nvSpPr>
        <p:spPr>
          <a:xfrm xmlns:a="http://schemas.openxmlformats.org/drawingml/2006/main">
            <a:off x="723900" y="4953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1616"/>
                </a:solidFill>
                <a:latin typeface="Georgia"/>
                <a:ea typeface="Georgia"/>
                <a:cs typeface="Georgia"/>
              </a:defRPr>
            </a:pPr>
            <a:r>
              <a:rPr sz="3225" b="1">
                <a:solidFill>
                  <a:srgbClr val="161616"/>
                </a:solidFill>
                <a:latin typeface="Georgia"/>
                <a:ea typeface="Georgia"/>
                <a:cs typeface="Georgia"/>
              </a:rPr>
              <a:t>5. Listening and the sermon</a:t>
            </a:r>
          </a:p>
        </p:txBody>
      </p:sp>
      <p:sp>
        <p:nvSpPr>
          <p:cNvPr id="2" name="">
            <a:extLst xmlns:a="http://schemas.openxmlformats.org/drawingml/2006/main">
              <a:ext uri="{FF2B5EF4-FFF2-40B4-BE49-F238E27FC236}">
                <a16:creationId xmlns:a16="http://schemas.microsoft.com/office/drawing/2014/main" id="{A8AB2A07-197E-4F6B-B958-7ED2F220C362}"/>
              </a:ext>
            </a:extLst>
          </p:cNvPr>
          <p:cNvSpPr>
            <a:spLocks xmlns:a="http://schemas.openxmlformats.org/drawingml/2006/main" noGrp="1"/>
          </p:cNvSpPr>
          <p:nvPr/>
        </p:nvSpPr>
        <p:spPr>
          <a:xfrm xmlns:a="http://schemas.openxmlformats.org/drawingml/2006/main">
            <a:off x="723900" y="176212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Before the Gospel, the deacon calls everyone to attend with stillness, fear, and purity. In plain language: be quiet, be reverent, and give God your attention.</a:t>
            </a:r>
          </a:p>
        </p:txBody>
      </p:sp>
      <p:sp>
        <p:nvSpPr>
          <p:cNvPr id="3" name="">
            <a:extLst xmlns:a="http://schemas.openxmlformats.org/drawingml/2006/main">
              <a:ext uri="{FF2B5EF4-FFF2-40B4-BE49-F238E27FC236}">
                <a16:creationId xmlns:a16="http://schemas.microsoft.com/office/drawing/2014/main" id="{45453305-4EDC-472C-A88E-0823EF45DBB2}"/>
              </a:ext>
            </a:extLst>
          </p:cNvPr>
          <p:cNvSpPr>
            <a:spLocks xmlns:a="http://schemas.openxmlformats.org/drawingml/2006/main" noGrp="1"/>
          </p:cNvSpPr>
          <p:nvPr/>
        </p:nvSpPr>
        <p:spPr>
          <a:xfrm xmlns:a="http://schemas.openxmlformats.org/drawingml/2006/main">
            <a:off x="723900" y="3200400"/>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sermon explains the Scripture and helps us live it. The lesson places it after the Gospel, while noting that some parishes move it later for practical reasons.</a:t>
            </a:r>
          </a:p>
        </p:txBody>
      </p:sp>
      <p:sp>
        <p:nvSpPr>
          <p:cNvPr id="4" name="">
            <a:extLst xmlns:a="http://schemas.openxmlformats.org/drawingml/2006/main">
              <a:ext uri="{FF2B5EF4-FFF2-40B4-BE49-F238E27FC236}">
                <a16:creationId xmlns:a16="http://schemas.microsoft.com/office/drawing/2014/main" id="{90E9AACD-5D21-459E-8BD8-8B666DC005A0}"/>
              </a:ext>
            </a:extLst>
          </p:cNvPr>
          <p:cNvSpPr>
            <a:spLocks xmlns:a="http://schemas.openxmlformats.org/drawingml/2006/main" noGrp="1"/>
          </p:cNvSpPr>
          <p:nvPr/>
        </p:nvSpPr>
        <p:spPr>
          <a:xfrm xmlns:a="http://schemas.openxmlformats.org/drawingml/2006/main">
            <a:off x="723900" y="463867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textbook compares Scripture to food for the soul. Ask: If a reading teaches us to love our neighbor, what could that change about tomorrow at school?</a:t>
            </a:r>
          </a:p>
        </p:txBody>
      </p:sp>
      <p:sp>
        <p:nvSpPr>
          <p:cNvPr id="5" name="">
            <a:extLst xmlns:a="http://schemas.openxmlformats.org/drawingml/2006/main">
              <a:ext uri="{FF2B5EF4-FFF2-40B4-BE49-F238E27FC236}">
                <a16:creationId xmlns:a16="http://schemas.microsoft.com/office/drawing/2014/main" id="{48168338-0322-48F2-968D-9B0DBE9CA129}"/>
              </a:ext>
            </a:extLst>
          </p:cNvPr>
          <p:cNvSpPr>
            <a:spLocks xmlns:a="http://schemas.openxmlformats.org/drawingml/2006/main" noGrp="1"/>
          </p:cNvSpPr>
          <p:nvPr/>
        </p:nvSpPr>
        <p:spPr>
          <a:xfrm xmlns:a="http://schemas.openxmlformats.org/drawingml/2006/main">
            <a:off x="723900" y="64198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Talmido Chapter 7  /  p. 40</a:t>
            </a:r>
          </a:p>
        </p:txBody>
      </p:sp>
      <p:sp>
        <p:nvSpPr>
          <p:cNvPr id="6" name="">
            <a:extLst xmlns:a="http://schemas.openxmlformats.org/drawingml/2006/main">
              <a:ext uri="{FF2B5EF4-FFF2-40B4-BE49-F238E27FC236}">
                <a16:creationId xmlns:a16="http://schemas.microsoft.com/office/drawing/2014/main" id="{5B3866ED-821D-4DC7-B3B9-3E6977FA7A5E}"/>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8</a:t>
            </a:r>
          </a:p>
        </p:txBody>
      </p:sp>
    </p:spTree>
    <p:extLst>
      <p:ext uri="{BB962C8B-B14F-4D97-AF65-F5344CB8AC3E}">
        <p14:creationId xmlns:p14="http://schemas.microsoft.com/office/powerpoint/2010/main" val="707704261"/>
      </p:ext>
    </p:extLst>
  </p:cSld>
</p:sld>
</file>

<file path=ppt/slides/slide9.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3936126-90FB-40AD-9F97-017FA6D561CB}"/>
              </a:ext>
            </a:extLst>
          </p:cNvPr>
          <p:cNvSpPr>
            <a:spLocks xmlns:a="http://schemas.openxmlformats.org/drawingml/2006/main" noGrp="1"/>
          </p:cNvSpPr>
          <p:nvPr/>
        </p:nvSpPr>
        <p:spPr>
          <a:xfrm xmlns:a="http://schemas.openxmlformats.org/drawingml/2006/main">
            <a:off x="723900" y="4953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1616"/>
                </a:solidFill>
                <a:latin typeface="Georgia"/>
                <a:ea typeface="Georgia"/>
                <a:cs typeface="Georgia"/>
              </a:defRPr>
            </a:pPr>
            <a:r>
              <a:rPr sz="3225" b="1">
                <a:solidFill>
                  <a:srgbClr val="161616"/>
                </a:solidFill>
                <a:latin typeface="Georgia"/>
                <a:ea typeface="Georgia"/>
                <a:cs typeface="Georgia"/>
              </a:rPr>
              <a:t>6. Prayers for mercy and the incense</a:t>
            </a:r>
          </a:p>
        </p:txBody>
      </p:sp>
      <p:sp>
        <p:nvSpPr>
          <p:cNvPr id="2" name="">
            <a:extLst xmlns:a="http://schemas.openxmlformats.org/drawingml/2006/main">
              <a:ext uri="{FF2B5EF4-FFF2-40B4-BE49-F238E27FC236}">
                <a16:creationId xmlns:a16="http://schemas.microsoft.com/office/drawing/2014/main" id="{181DD770-2A0C-424C-82F8-76482598E02B}"/>
              </a:ext>
            </a:extLst>
          </p:cNvPr>
          <p:cNvSpPr>
            <a:spLocks xmlns:a="http://schemas.openxmlformats.org/drawingml/2006/main" noGrp="1"/>
          </p:cNvSpPr>
          <p:nvPr/>
        </p:nvSpPr>
        <p:spPr>
          <a:xfrm xmlns:a="http://schemas.openxmlformats.org/drawingml/2006/main">
            <a:off x="723900" y="176212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Promion, Husoyo, and Sedro are names for prayers in this part of the service. The priest first asks God’s mercy for himself, then for the faithful, both living and departed.</a:t>
            </a:r>
          </a:p>
        </p:txBody>
      </p:sp>
      <p:sp>
        <p:nvSpPr>
          <p:cNvPr id="3" name="">
            <a:extLst xmlns:a="http://schemas.openxmlformats.org/drawingml/2006/main">
              <a:ext uri="{FF2B5EF4-FFF2-40B4-BE49-F238E27FC236}">
                <a16:creationId xmlns:a16="http://schemas.microsoft.com/office/drawing/2014/main" id="{63AE7E38-9CAA-45E8-9F9F-0011C62B5B4C}"/>
              </a:ext>
            </a:extLst>
          </p:cNvPr>
          <p:cNvSpPr>
            <a:spLocks xmlns:a="http://schemas.openxmlformats.org/drawingml/2006/main" noGrp="1"/>
          </p:cNvSpPr>
          <p:nvPr/>
        </p:nvSpPr>
        <p:spPr>
          <a:xfrm xmlns:a="http://schemas.openxmlformats.org/drawingml/2006/main">
            <a:off x="723900" y="3200400"/>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priest blesses the censer while proclaiming the holiness of the Father, Son, and Holy Spirit. The censer is the vessel that holds the burning incense.</a:t>
            </a:r>
          </a:p>
        </p:txBody>
      </p:sp>
      <p:sp>
        <p:nvSpPr>
          <p:cNvPr id="4" name="">
            <a:extLst xmlns:a="http://schemas.openxmlformats.org/drawingml/2006/main">
              <a:ext uri="{FF2B5EF4-FFF2-40B4-BE49-F238E27FC236}">
                <a16:creationId xmlns:a16="http://schemas.microsoft.com/office/drawing/2014/main" id="{DCDCCE96-BF47-4C70-9427-7AD711994B9C}"/>
              </a:ext>
            </a:extLst>
          </p:cNvPr>
          <p:cNvSpPr>
            <a:spLocks xmlns:a="http://schemas.openxmlformats.org/drawingml/2006/main" noGrp="1"/>
          </p:cNvSpPr>
          <p:nvPr/>
        </p:nvSpPr>
        <p:spPr>
          <a:xfrm xmlns:a="http://schemas.openxmlformats.org/drawingml/2006/main">
            <a:off x="723900" y="463867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As the fragrant smoke rises, it helps us picture our prayers rising to God. The lesson connects this with incense in Scripture and with the prayers of the saints.</a:t>
            </a:r>
          </a:p>
        </p:txBody>
      </p:sp>
      <p:sp>
        <p:nvSpPr>
          <p:cNvPr id="5" name="">
            <a:extLst xmlns:a="http://schemas.openxmlformats.org/drawingml/2006/main">
              <a:ext uri="{FF2B5EF4-FFF2-40B4-BE49-F238E27FC236}">
                <a16:creationId xmlns:a16="http://schemas.microsoft.com/office/drawing/2014/main" id="{69282AFA-EE53-431C-ABC1-23023512C015}"/>
              </a:ext>
            </a:extLst>
          </p:cNvPr>
          <p:cNvSpPr>
            <a:spLocks xmlns:a="http://schemas.openxmlformats.org/drawingml/2006/main" noGrp="1"/>
          </p:cNvSpPr>
          <p:nvPr/>
        </p:nvSpPr>
        <p:spPr>
          <a:xfrm xmlns:a="http://schemas.openxmlformats.org/drawingml/2006/main">
            <a:off x="723900" y="64198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Talmido Chapter 7  /  p. 41</a:t>
            </a:r>
          </a:p>
        </p:txBody>
      </p:sp>
      <p:sp>
        <p:nvSpPr>
          <p:cNvPr id="6" name="">
            <a:extLst xmlns:a="http://schemas.openxmlformats.org/drawingml/2006/main">
              <a:ext uri="{FF2B5EF4-FFF2-40B4-BE49-F238E27FC236}">
                <a16:creationId xmlns:a16="http://schemas.microsoft.com/office/drawing/2014/main" id="{2775B787-B565-48EC-8CFB-B83281875468}"/>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9</a:t>
            </a:r>
          </a:p>
        </p:txBody>
      </p:sp>
    </p:spTree>
    <p:extLst>
      <p:ext uri="{BB962C8B-B14F-4D97-AF65-F5344CB8AC3E}">
        <p14:creationId xmlns:p14="http://schemas.microsoft.com/office/powerpoint/2010/main" val="1420579036"/>
      </p:ext>
    </p:extLst>
  </p:cSld>
</p:sld>
</file>

<file path=ppt/slides/slide10.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B87404E-4635-4E7C-8B2A-C972000A0619}"/>
              </a:ext>
            </a:extLst>
          </p:cNvPr>
          <p:cNvSpPr>
            <a:spLocks xmlns:a="http://schemas.openxmlformats.org/drawingml/2006/main" noGrp="1"/>
          </p:cNvSpPr>
          <p:nvPr/>
        </p:nvSpPr>
        <p:spPr>
          <a:xfrm xmlns:a="http://schemas.openxmlformats.org/drawingml/2006/main">
            <a:off x="723900" y="4953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1616"/>
                </a:solidFill>
                <a:latin typeface="Georgia"/>
                <a:ea typeface="Georgia"/>
                <a:cs typeface="Georgia"/>
              </a:defRPr>
            </a:pPr>
            <a:r>
              <a:rPr sz="3225" b="1">
                <a:solidFill>
                  <a:srgbClr val="161616"/>
                </a:solidFill>
                <a:latin typeface="Georgia"/>
                <a:ea typeface="Georgia"/>
                <a:cs typeface="Georgia"/>
              </a:rPr>
              <a:t>7. The Creed: the faith we share</a:t>
            </a:r>
          </a:p>
        </p:txBody>
      </p:sp>
      <p:sp>
        <p:nvSpPr>
          <p:cNvPr id="2" name="">
            <a:extLst xmlns:a="http://schemas.openxmlformats.org/drawingml/2006/main">
              <a:ext uri="{FF2B5EF4-FFF2-40B4-BE49-F238E27FC236}">
                <a16:creationId xmlns:a16="http://schemas.microsoft.com/office/drawing/2014/main" id="{4FE2006C-F909-49B3-B4E4-96310B7C6545}"/>
              </a:ext>
            </a:extLst>
          </p:cNvPr>
          <p:cNvSpPr>
            <a:spLocks xmlns:a="http://schemas.openxmlformats.org/drawingml/2006/main" noGrp="1"/>
          </p:cNvSpPr>
          <p:nvPr/>
        </p:nvSpPr>
        <p:spPr>
          <a:xfrm xmlns:a="http://schemas.openxmlformats.org/drawingml/2006/main">
            <a:off x="723900" y="176212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Nicene Creed is the Church’s statement of faith. We confess what we believe about the Father, the Son, and the Holy Spirit, and about the Church’s life and hope.</a:t>
            </a:r>
          </a:p>
        </p:txBody>
      </p:sp>
      <p:sp>
        <p:nvSpPr>
          <p:cNvPr id="3" name="">
            <a:extLst xmlns:a="http://schemas.openxmlformats.org/drawingml/2006/main">
              <a:ext uri="{FF2B5EF4-FFF2-40B4-BE49-F238E27FC236}">
                <a16:creationId xmlns:a16="http://schemas.microsoft.com/office/drawing/2014/main" id="{BD446CF3-C261-4092-B19B-96CCFC9A6F1C}"/>
              </a:ext>
            </a:extLst>
          </p:cNvPr>
          <p:cNvSpPr>
            <a:spLocks xmlns:a="http://schemas.openxmlformats.org/drawingml/2006/main" noGrp="1"/>
          </p:cNvSpPr>
          <p:nvPr/>
        </p:nvSpPr>
        <p:spPr>
          <a:xfrm xmlns:a="http://schemas.openxmlformats.org/drawingml/2006/main">
            <a:off x="723900" y="3200400"/>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textbook connects this shared confession with baptism. Historically, those preparing for baptism left at this point, before the Anaphora.</a:t>
            </a:r>
          </a:p>
        </p:txBody>
      </p:sp>
      <p:sp>
        <p:nvSpPr>
          <p:cNvPr id="4" name="">
            <a:extLst xmlns:a="http://schemas.openxmlformats.org/drawingml/2006/main">
              <a:ext uri="{FF2B5EF4-FFF2-40B4-BE49-F238E27FC236}">
                <a16:creationId xmlns:a16="http://schemas.microsoft.com/office/drawing/2014/main" id="{F700B07D-208F-459A-B8F2-6B171936B183}"/>
              </a:ext>
            </a:extLst>
          </p:cNvPr>
          <p:cNvSpPr>
            <a:spLocks xmlns:a="http://schemas.openxmlformats.org/drawingml/2006/main" noGrp="1"/>
          </p:cNvSpPr>
          <p:nvPr/>
        </p:nvSpPr>
        <p:spPr>
          <a:xfrm xmlns:a="http://schemas.openxmlformats.org/drawingml/2006/main">
            <a:off x="723900" y="463867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Creed helps us recognize that we worship as one community sharing the same faith, even though we bring different needs and experiences.</a:t>
            </a:r>
          </a:p>
        </p:txBody>
      </p:sp>
      <p:sp>
        <p:nvSpPr>
          <p:cNvPr id="5" name="">
            <a:extLst xmlns:a="http://schemas.openxmlformats.org/drawingml/2006/main">
              <a:ext uri="{FF2B5EF4-FFF2-40B4-BE49-F238E27FC236}">
                <a16:creationId xmlns:a16="http://schemas.microsoft.com/office/drawing/2014/main" id="{82CF79A0-638F-4DD4-B531-CC6F075D3978}"/>
              </a:ext>
            </a:extLst>
          </p:cNvPr>
          <p:cNvSpPr>
            <a:spLocks xmlns:a="http://schemas.openxmlformats.org/drawingml/2006/main" noGrp="1"/>
          </p:cNvSpPr>
          <p:nvPr/>
        </p:nvSpPr>
        <p:spPr>
          <a:xfrm xmlns:a="http://schemas.openxmlformats.org/drawingml/2006/main">
            <a:off x="723900" y="64198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Talmido Chapter 7  /  p. 41</a:t>
            </a:r>
          </a:p>
        </p:txBody>
      </p:sp>
      <p:sp>
        <p:nvSpPr>
          <p:cNvPr id="6" name="">
            <a:extLst xmlns:a="http://schemas.openxmlformats.org/drawingml/2006/main">
              <a:ext uri="{FF2B5EF4-FFF2-40B4-BE49-F238E27FC236}">
                <a16:creationId xmlns:a16="http://schemas.microsoft.com/office/drawing/2014/main" id="{59E47E7A-33A8-4000-9E28-4FFD7EF245E9}"/>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10</a:t>
            </a:r>
          </a:p>
        </p:txBody>
      </p:sp>
    </p:spTree>
    <p:extLst>
      <p:ext uri="{BB962C8B-B14F-4D97-AF65-F5344CB8AC3E}">
        <p14:creationId xmlns:p14="http://schemas.microsoft.com/office/powerpoint/2010/main" val="1548326980"/>
      </p:ext>
    </p:extLst>
  </p:cSld>
</p:sld>
</file>

<file path=ppt/slides/slide11.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4810D2-0699-4D76-ADC0-CF8A3FF2358E}"/>
              </a:ext>
            </a:extLst>
          </p:cNvPr>
          <p:cNvSpPr>
            <a:spLocks xmlns:a="http://schemas.openxmlformats.org/drawingml/2006/main" noGrp="1"/>
          </p:cNvSpPr>
          <p:nvPr/>
        </p:nvSpPr>
        <p:spPr>
          <a:xfrm xmlns:a="http://schemas.openxmlformats.org/drawingml/2006/main">
            <a:off x="723900" y="4953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1616"/>
                </a:solidFill>
                <a:latin typeface="Georgia"/>
                <a:ea typeface="Georgia"/>
                <a:cs typeface="Georgia"/>
              </a:defRPr>
            </a:pPr>
            <a:r>
              <a:rPr sz="3225" b="1">
                <a:solidFill>
                  <a:srgbClr val="161616"/>
                </a:solidFill>
                <a:latin typeface="Georgia"/>
                <a:ea typeface="Georgia"/>
                <a:cs typeface="Georgia"/>
              </a:rPr>
              <a:t>8. The Kiss of Peace begins the Anaphora</a:t>
            </a:r>
          </a:p>
        </p:txBody>
      </p:sp>
      <p:sp>
        <p:nvSpPr>
          <p:cNvPr id="2" name="">
            <a:extLst xmlns:a="http://schemas.openxmlformats.org/drawingml/2006/main">
              <a:ext uri="{FF2B5EF4-FFF2-40B4-BE49-F238E27FC236}">
                <a16:creationId xmlns:a16="http://schemas.microsoft.com/office/drawing/2014/main" id="{E577F82A-F427-46F3-B008-8F6FC9772CDB}"/>
              </a:ext>
            </a:extLst>
          </p:cNvPr>
          <p:cNvSpPr>
            <a:spLocks xmlns:a="http://schemas.openxmlformats.org/drawingml/2006/main" noGrp="1"/>
          </p:cNvSpPr>
          <p:nvPr/>
        </p:nvSpPr>
        <p:spPr>
          <a:xfrm xmlns:a="http://schemas.openxmlformats.org/drawingml/2006/main">
            <a:off x="723900" y="176212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peace begins at the altar and passes through the ministers to the congregation. Each person shares it with others until it reaches the whole church.</a:t>
            </a:r>
          </a:p>
        </p:txBody>
      </p:sp>
      <p:sp>
        <p:nvSpPr>
          <p:cNvPr id="3" name="">
            <a:extLst xmlns:a="http://schemas.openxmlformats.org/drawingml/2006/main">
              <a:ext uri="{FF2B5EF4-FFF2-40B4-BE49-F238E27FC236}">
                <a16:creationId xmlns:a16="http://schemas.microsoft.com/office/drawing/2014/main" id="{3E5F0BBB-4D85-4C9C-B6B4-74B46C900AD6}"/>
              </a:ext>
            </a:extLst>
          </p:cNvPr>
          <p:cNvSpPr>
            <a:spLocks xmlns:a="http://schemas.openxmlformats.org/drawingml/2006/main" noGrp="1"/>
          </p:cNvSpPr>
          <p:nvPr/>
        </p:nvSpPr>
        <p:spPr>
          <a:xfrm xmlns:a="http://schemas.openxmlformats.org/drawingml/2006/main">
            <a:off x="723900" y="3200400"/>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lesson compares this with Christ giving His peace to the Apostles, who shared it with their disciples and with the world. The peace comes from God.</a:t>
            </a:r>
          </a:p>
        </p:txBody>
      </p:sp>
      <p:sp>
        <p:nvSpPr>
          <p:cNvPr id="4" name="">
            <a:extLst xmlns:a="http://schemas.openxmlformats.org/drawingml/2006/main">
              <a:ext uri="{FF2B5EF4-FFF2-40B4-BE49-F238E27FC236}">
                <a16:creationId xmlns:a16="http://schemas.microsoft.com/office/drawing/2014/main" id="{4964A67C-E5AD-4592-A182-2C8FC9667F76}"/>
              </a:ext>
            </a:extLst>
          </p:cNvPr>
          <p:cNvSpPr>
            <a:spLocks xmlns:a="http://schemas.openxmlformats.org/drawingml/2006/main" noGrp="1"/>
          </p:cNvSpPr>
          <p:nvPr/>
        </p:nvSpPr>
        <p:spPr>
          <a:xfrm xmlns:a="http://schemas.openxmlformats.org/drawingml/2006/main">
            <a:off x="723900" y="463867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It also asks something of us: sincere reconciliation. Jesus teaches us to make peace with another person before bringing our offering. An outward gesture should express an inward intention.</a:t>
            </a:r>
          </a:p>
        </p:txBody>
      </p:sp>
      <p:sp>
        <p:nvSpPr>
          <p:cNvPr id="5" name="">
            <a:extLst xmlns:a="http://schemas.openxmlformats.org/drawingml/2006/main">
              <a:ext uri="{FF2B5EF4-FFF2-40B4-BE49-F238E27FC236}">
                <a16:creationId xmlns:a16="http://schemas.microsoft.com/office/drawing/2014/main" id="{B96357BB-DE2E-44D9-A4BE-2A8BBC0390AC}"/>
              </a:ext>
            </a:extLst>
          </p:cNvPr>
          <p:cNvSpPr>
            <a:spLocks xmlns:a="http://schemas.openxmlformats.org/drawingml/2006/main" noGrp="1"/>
          </p:cNvSpPr>
          <p:nvPr/>
        </p:nvSpPr>
        <p:spPr>
          <a:xfrm xmlns:a="http://schemas.openxmlformats.org/drawingml/2006/main">
            <a:off x="723900" y="64198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Talmido Chapter 7  /  pp. 38, 42</a:t>
            </a:r>
          </a:p>
        </p:txBody>
      </p:sp>
      <p:sp>
        <p:nvSpPr>
          <p:cNvPr id="6" name="">
            <a:extLst xmlns:a="http://schemas.openxmlformats.org/drawingml/2006/main">
              <a:ext uri="{FF2B5EF4-FFF2-40B4-BE49-F238E27FC236}">
                <a16:creationId xmlns:a16="http://schemas.microsoft.com/office/drawing/2014/main" id="{15976249-C7BA-480B-A5CC-06F6B2FEC5DA}"/>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11</a:t>
            </a:r>
          </a:p>
        </p:txBody>
      </p:sp>
    </p:spTree>
    <p:extLst>
      <p:ext uri="{BB962C8B-B14F-4D97-AF65-F5344CB8AC3E}">
        <p14:creationId xmlns:p14="http://schemas.microsoft.com/office/powerpoint/2010/main" val="375211581"/>
      </p:ext>
    </p:extLst>
  </p:cSld>
</p:sld>
</file>

<file path=ppt/slides/slide12.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BB2559-7397-4839-8B8C-1F2830799DDE}"/>
              </a:ext>
            </a:extLst>
          </p:cNvPr>
          <p:cNvSpPr>
            <a:spLocks xmlns:a="http://schemas.openxmlformats.org/drawingml/2006/main" noGrp="1"/>
          </p:cNvSpPr>
          <p:nvPr/>
        </p:nvSpPr>
        <p:spPr>
          <a:xfrm xmlns:a="http://schemas.openxmlformats.org/drawingml/2006/main">
            <a:off x="723900" y="4953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1616"/>
                </a:solidFill>
                <a:latin typeface="Georgia"/>
                <a:ea typeface="Georgia"/>
                <a:cs typeface="Georgia"/>
              </a:defRPr>
            </a:pPr>
            <a:r>
              <a:rPr sz="3225" b="1">
                <a:solidFill>
                  <a:srgbClr val="161616"/>
                </a:solidFill>
                <a:latin typeface="Georgia"/>
                <a:ea typeface="Georgia"/>
                <a:cs typeface="Georgia"/>
              </a:rPr>
              <a:t>9. The veil and the call to attention</a:t>
            </a:r>
          </a:p>
        </p:txBody>
      </p:sp>
      <p:sp>
        <p:nvSpPr>
          <p:cNvPr id="2" name="">
            <a:extLst xmlns:a="http://schemas.openxmlformats.org/drawingml/2006/main">
              <a:ext uri="{FF2B5EF4-FFF2-40B4-BE49-F238E27FC236}">
                <a16:creationId xmlns:a16="http://schemas.microsoft.com/office/drawing/2014/main" id="{9C53C38B-AAA9-4DCD-9F34-AFBB433B1CA8}"/>
              </a:ext>
            </a:extLst>
          </p:cNvPr>
          <p:cNvSpPr>
            <a:spLocks xmlns:a="http://schemas.openxmlformats.org/drawingml/2006/main" noGrp="1"/>
          </p:cNvSpPr>
          <p:nvPr/>
        </p:nvSpPr>
        <p:spPr>
          <a:xfrm xmlns:a="http://schemas.openxmlformats.org/drawingml/2006/main">
            <a:off x="723900" y="176212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Shoshappa, or Shushefo, is the cloth covering the paten and chalice. The paten holds the bread and the chalice holds the wine. The veil also recalls the stone at Christ’s tomb.</a:t>
            </a:r>
          </a:p>
        </p:txBody>
      </p:sp>
      <p:sp>
        <p:nvSpPr>
          <p:cNvPr id="3" name="">
            <a:extLst xmlns:a="http://schemas.openxmlformats.org/drawingml/2006/main">
              <a:ext uri="{FF2B5EF4-FFF2-40B4-BE49-F238E27FC236}">
                <a16:creationId xmlns:a16="http://schemas.microsoft.com/office/drawing/2014/main" id="{8D92AD1A-863A-49C3-AE2D-DB0A3A8E5CFE}"/>
              </a:ext>
            </a:extLst>
          </p:cNvPr>
          <p:cNvSpPr>
            <a:spLocks xmlns:a="http://schemas.openxmlformats.org/drawingml/2006/main" noGrp="1"/>
          </p:cNvSpPr>
          <p:nvPr/>
        </p:nvSpPr>
        <p:spPr>
          <a:xfrm xmlns:a="http://schemas.openxmlformats.org/drawingml/2006/main">
            <a:off x="723900" y="3200400"/>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As the veil is lifted, the deacon calls the faithful to stand with reverence, purity, love, and true faith. Our attention turns toward God and thanksgiving.</a:t>
            </a:r>
          </a:p>
        </p:txBody>
      </p:sp>
      <p:sp>
        <p:nvSpPr>
          <p:cNvPr id="4" name="">
            <a:extLst xmlns:a="http://schemas.openxmlformats.org/drawingml/2006/main">
              <a:ext uri="{FF2B5EF4-FFF2-40B4-BE49-F238E27FC236}">
                <a16:creationId xmlns:a16="http://schemas.microsoft.com/office/drawing/2014/main" id="{2A4C9C24-BFB4-4CC4-9FBB-FF30EFFF4BEA}"/>
              </a:ext>
            </a:extLst>
          </p:cNvPr>
          <p:cNvSpPr>
            <a:spLocks xmlns:a="http://schemas.openxmlformats.org/drawingml/2006/main" noGrp="1"/>
          </p:cNvSpPr>
          <p:nvPr/>
        </p:nvSpPr>
        <p:spPr>
          <a:xfrm xmlns:a="http://schemas.openxmlformats.org/drawingml/2006/main">
            <a:off x="723900" y="463867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priest gives a Trinitarian blessing, a blessing in the name of the Father, Son, and Holy Spirit. “Trinitarian” refers to the Holy Trinity.</a:t>
            </a:r>
          </a:p>
        </p:txBody>
      </p:sp>
      <p:sp>
        <p:nvSpPr>
          <p:cNvPr id="5" name="">
            <a:extLst xmlns:a="http://schemas.openxmlformats.org/drawingml/2006/main">
              <a:ext uri="{FF2B5EF4-FFF2-40B4-BE49-F238E27FC236}">
                <a16:creationId xmlns:a16="http://schemas.microsoft.com/office/drawing/2014/main" id="{B4ED0D58-DCBD-4C60-ACBC-AD4B5E4EDA7E}"/>
              </a:ext>
            </a:extLst>
          </p:cNvPr>
          <p:cNvSpPr>
            <a:spLocks xmlns:a="http://schemas.openxmlformats.org/drawingml/2006/main" noGrp="1"/>
          </p:cNvSpPr>
          <p:nvPr/>
        </p:nvSpPr>
        <p:spPr>
          <a:xfrm xmlns:a="http://schemas.openxmlformats.org/drawingml/2006/main">
            <a:off x="723900" y="64198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Talmido Chapter 7  /  p. 42</a:t>
            </a:r>
          </a:p>
        </p:txBody>
      </p:sp>
      <p:sp>
        <p:nvSpPr>
          <p:cNvPr id="6" name="">
            <a:extLst xmlns:a="http://schemas.openxmlformats.org/drawingml/2006/main">
              <a:ext uri="{FF2B5EF4-FFF2-40B4-BE49-F238E27FC236}">
                <a16:creationId xmlns:a16="http://schemas.microsoft.com/office/drawing/2014/main" id="{CDCEAD46-D306-489C-B4F3-6EE971DFBC92}"/>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12</a:t>
            </a:r>
          </a:p>
        </p:txBody>
      </p:sp>
    </p:spTree>
    <p:extLst>
      <p:ext uri="{BB962C8B-B14F-4D97-AF65-F5344CB8AC3E}">
        <p14:creationId xmlns:p14="http://schemas.microsoft.com/office/powerpoint/2010/main" val="378799800"/>
      </p:ext>
    </p:extLst>
  </p:cSld>
</p:sld>
</file>

<file path=ppt/slides/slide13.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CD1C30-57B4-4961-B532-2EB3891E5083}"/>
              </a:ext>
            </a:extLst>
          </p:cNvPr>
          <p:cNvSpPr>
            <a:spLocks xmlns:a="http://schemas.openxmlformats.org/drawingml/2006/main" noGrp="1"/>
          </p:cNvSpPr>
          <p:nvPr/>
        </p:nvSpPr>
        <p:spPr>
          <a:xfrm xmlns:a="http://schemas.openxmlformats.org/drawingml/2006/main">
            <a:off x="723900" y="4953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1616"/>
                </a:solidFill>
                <a:latin typeface="Georgia"/>
                <a:ea typeface="Georgia"/>
                <a:cs typeface="Georgia"/>
              </a:defRPr>
            </a:pPr>
            <a:r>
              <a:rPr sz="3225" b="1">
                <a:solidFill>
                  <a:srgbClr val="161616"/>
                </a:solidFill>
                <a:latin typeface="Georgia"/>
                <a:ea typeface="Georgia"/>
                <a:cs typeface="Georgia"/>
              </a:rPr>
              <a:t>10. Joining the praise of heaven</a:t>
            </a:r>
          </a:p>
        </p:txBody>
      </p:sp>
      <p:sp>
        <p:nvSpPr>
          <p:cNvPr id="2" name="">
            <a:extLst xmlns:a="http://schemas.openxmlformats.org/drawingml/2006/main">
              <a:ext uri="{FF2B5EF4-FFF2-40B4-BE49-F238E27FC236}">
                <a16:creationId xmlns:a16="http://schemas.microsoft.com/office/drawing/2014/main" id="{B27C9672-13C0-404D-8386-DFDD050B5C92}"/>
              </a:ext>
            </a:extLst>
          </p:cNvPr>
          <p:cNvSpPr>
            <a:spLocks xmlns:a="http://schemas.openxmlformats.org/drawingml/2006/main" noGrp="1"/>
          </p:cNvSpPr>
          <p:nvPr/>
        </p:nvSpPr>
        <p:spPr>
          <a:xfrm xmlns:a="http://schemas.openxmlformats.org/drawingml/2006/main">
            <a:off x="723900" y="176212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priest calls us to lift our thoughts and hearts toward Christ. The service asks for the attention of our whole person, including our mind and heart.</a:t>
            </a:r>
          </a:p>
        </p:txBody>
      </p:sp>
      <p:sp>
        <p:nvSpPr>
          <p:cNvPr id="3" name="">
            <a:extLst xmlns:a="http://schemas.openxmlformats.org/drawingml/2006/main">
              <a:ext uri="{FF2B5EF4-FFF2-40B4-BE49-F238E27FC236}">
                <a16:creationId xmlns:a16="http://schemas.microsoft.com/office/drawing/2014/main" id="{E6DBB1BB-EB3F-4B2B-9FDF-1C28315EF3C3}"/>
              </a:ext>
            </a:extLst>
          </p:cNvPr>
          <p:cNvSpPr>
            <a:spLocks xmlns:a="http://schemas.openxmlformats.org/drawingml/2006/main" noGrp="1"/>
          </p:cNvSpPr>
          <p:nvPr/>
        </p:nvSpPr>
        <p:spPr>
          <a:xfrm xmlns:a="http://schemas.openxmlformats.org/drawingml/2006/main">
            <a:off x="723900" y="3200400"/>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We sing the Sanctus, the hymn of “Holy, Holy, Holy.” The lesson connects this with the praise of the seraphim in Isaiah 6:3. Seraphim are heavenly beings who worship God.</a:t>
            </a:r>
          </a:p>
        </p:txBody>
      </p:sp>
      <p:sp>
        <p:nvSpPr>
          <p:cNvPr id="4" name="">
            <a:extLst xmlns:a="http://schemas.openxmlformats.org/drawingml/2006/main">
              <a:ext uri="{FF2B5EF4-FFF2-40B4-BE49-F238E27FC236}">
                <a16:creationId xmlns:a16="http://schemas.microsoft.com/office/drawing/2014/main" id="{4B778F33-D82E-4044-8009-DA9DBBB6DFD1}"/>
              </a:ext>
            </a:extLst>
          </p:cNvPr>
          <p:cNvSpPr>
            <a:spLocks xmlns:a="http://schemas.openxmlformats.org/drawingml/2006/main" noGrp="1"/>
          </p:cNvSpPr>
          <p:nvPr/>
        </p:nvSpPr>
        <p:spPr>
          <a:xfrm xmlns:a="http://schemas.openxmlformats.org/drawingml/2006/main">
            <a:off x="723900" y="463867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meaning is that the worship of the Church on earth joins the worship of heaven. We belong to a much larger communion than the people we can see around us.</a:t>
            </a:r>
          </a:p>
        </p:txBody>
      </p:sp>
      <p:sp>
        <p:nvSpPr>
          <p:cNvPr id="5" name="">
            <a:extLst xmlns:a="http://schemas.openxmlformats.org/drawingml/2006/main">
              <a:ext uri="{FF2B5EF4-FFF2-40B4-BE49-F238E27FC236}">
                <a16:creationId xmlns:a16="http://schemas.microsoft.com/office/drawing/2014/main" id="{4D7D20BE-8B0E-469A-937E-AFAF12AA62CC}"/>
              </a:ext>
            </a:extLst>
          </p:cNvPr>
          <p:cNvSpPr>
            <a:spLocks xmlns:a="http://schemas.openxmlformats.org/drawingml/2006/main" noGrp="1"/>
          </p:cNvSpPr>
          <p:nvPr/>
        </p:nvSpPr>
        <p:spPr>
          <a:xfrm xmlns:a="http://schemas.openxmlformats.org/drawingml/2006/main">
            <a:off x="723900" y="64198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Talmido Chapter 7  /  p. 43</a:t>
            </a:r>
          </a:p>
        </p:txBody>
      </p:sp>
      <p:sp>
        <p:nvSpPr>
          <p:cNvPr id="6" name="">
            <a:extLst xmlns:a="http://schemas.openxmlformats.org/drawingml/2006/main">
              <a:ext uri="{FF2B5EF4-FFF2-40B4-BE49-F238E27FC236}">
                <a16:creationId xmlns:a16="http://schemas.microsoft.com/office/drawing/2014/main" id="{182FE998-05F1-44E1-9850-20AA5BEE729C}"/>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13</a:t>
            </a:r>
          </a:p>
        </p:txBody>
      </p:sp>
    </p:spTree>
    <p:extLst>
      <p:ext uri="{BB962C8B-B14F-4D97-AF65-F5344CB8AC3E}">
        <p14:creationId xmlns:p14="http://schemas.microsoft.com/office/powerpoint/2010/main" val="813026913"/>
      </p:ext>
    </p:extLst>
  </p:cSld>
</p:sld>
</file>

<file path=ppt/slides/slide14.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66B63AE-F1BF-40F1-B151-706C37694F50}"/>
              </a:ext>
            </a:extLst>
          </p:cNvPr>
          <p:cNvSpPr>
            <a:spLocks xmlns:a="http://schemas.openxmlformats.org/drawingml/2006/main" noGrp="1"/>
          </p:cNvSpPr>
          <p:nvPr/>
        </p:nvSpPr>
        <p:spPr>
          <a:xfrm xmlns:a="http://schemas.openxmlformats.org/drawingml/2006/main">
            <a:off x="723900" y="4953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1616"/>
                </a:solidFill>
                <a:latin typeface="Georgia"/>
                <a:ea typeface="Georgia"/>
                <a:cs typeface="Georgia"/>
              </a:defRPr>
            </a:pPr>
            <a:r>
              <a:rPr sz="3225" b="1">
                <a:solidFill>
                  <a:srgbClr val="161616"/>
                </a:solidFill>
                <a:latin typeface="Georgia"/>
                <a:ea typeface="Georgia"/>
                <a:cs typeface="Georgia"/>
              </a:rPr>
              <a:t>11. The Words of Institution</a:t>
            </a:r>
          </a:p>
        </p:txBody>
      </p:sp>
      <p:sp>
        <p:nvSpPr>
          <p:cNvPr id="2" name="">
            <a:extLst xmlns:a="http://schemas.openxmlformats.org/drawingml/2006/main">
              <a:ext uri="{FF2B5EF4-FFF2-40B4-BE49-F238E27FC236}">
                <a16:creationId xmlns:a16="http://schemas.microsoft.com/office/drawing/2014/main" id="{C6D692CF-B4D6-4A10-B4F8-B28873EF452F}"/>
              </a:ext>
            </a:extLst>
          </p:cNvPr>
          <p:cNvSpPr>
            <a:spLocks xmlns:a="http://schemas.openxmlformats.org/drawingml/2006/main" noGrp="1"/>
          </p:cNvSpPr>
          <p:nvPr/>
        </p:nvSpPr>
        <p:spPr>
          <a:xfrm xmlns:a="http://schemas.openxmlformats.org/drawingml/2006/main">
            <a:off x="723900" y="176212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Words of Institution recall Christ establishing the Eucharist at the Mystical Supper. We hear the account of His giving the bread and wine as His Body and Blood.</a:t>
            </a:r>
          </a:p>
        </p:txBody>
      </p:sp>
      <p:sp>
        <p:nvSpPr>
          <p:cNvPr id="3" name="">
            <a:extLst xmlns:a="http://schemas.openxmlformats.org/drawingml/2006/main">
              <a:ext uri="{FF2B5EF4-FFF2-40B4-BE49-F238E27FC236}">
                <a16:creationId xmlns:a16="http://schemas.microsoft.com/office/drawing/2014/main" id="{E93A5E31-A9E3-491D-84C5-967B776F2687}"/>
              </a:ext>
            </a:extLst>
          </p:cNvPr>
          <p:cNvSpPr>
            <a:spLocks xmlns:a="http://schemas.openxmlformats.org/drawingml/2006/main" noGrp="1"/>
          </p:cNvSpPr>
          <p:nvPr/>
        </p:nvSpPr>
        <p:spPr>
          <a:xfrm xmlns:a="http://schemas.openxmlformats.org/drawingml/2006/main">
            <a:off x="723900" y="3200400"/>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Church believes that in Holy Communion we receive the real Body and Blood of Christ. This belief explains the reverence with which we approach the Mysteries.</a:t>
            </a:r>
          </a:p>
        </p:txBody>
      </p:sp>
      <p:sp>
        <p:nvSpPr>
          <p:cNvPr id="4" name="">
            <a:extLst xmlns:a="http://schemas.openxmlformats.org/drawingml/2006/main">
              <a:ext uri="{FF2B5EF4-FFF2-40B4-BE49-F238E27FC236}">
                <a16:creationId xmlns:a16="http://schemas.microsoft.com/office/drawing/2014/main" id="{6B8D5D50-57CE-4FFC-B28E-81E18C817E4C}"/>
              </a:ext>
            </a:extLst>
          </p:cNvPr>
          <p:cNvSpPr>
            <a:spLocks xmlns:a="http://schemas.openxmlformats.org/drawingml/2006/main" noGrp="1"/>
          </p:cNvSpPr>
          <p:nvPr/>
        </p:nvSpPr>
        <p:spPr>
          <a:xfrm xmlns:a="http://schemas.openxmlformats.org/drawingml/2006/main">
            <a:off x="723900" y="463867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We remember His death, confess His Resurrection, and await His coming again. The service brings our attention to the saving work through which Christ gives us life.</a:t>
            </a:r>
          </a:p>
        </p:txBody>
      </p:sp>
      <p:sp>
        <p:nvSpPr>
          <p:cNvPr id="5" name="">
            <a:extLst xmlns:a="http://schemas.openxmlformats.org/drawingml/2006/main">
              <a:ext uri="{FF2B5EF4-FFF2-40B4-BE49-F238E27FC236}">
                <a16:creationId xmlns:a16="http://schemas.microsoft.com/office/drawing/2014/main" id="{ADAE558F-D52A-4EE8-A7A3-27921A2C75B5}"/>
              </a:ext>
            </a:extLst>
          </p:cNvPr>
          <p:cNvSpPr>
            <a:spLocks xmlns:a="http://schemas.openxmlformats.org/drawingml/2006/main" noGrp="1"/>
          </p:cNvSpPr>
          <p:nvPr/>
        </p:nvSpPr>
        <p:spPr>
          <a:xfrm xmlns:a="http://schemas.openxmlformats.org/drawingml/2006/main">
            <a:off x="723900" y="64198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Talmido Chapter 7  /  p. 43</a:t>
            </a:r>
          </a:p>
        </p:txBody>
      </p:sp>
      <p:sp>
        <p:nvSpPr>
          <p:cNvPr id="6" name="">
            <a:extLst xmlns:a="http://schemas.openxmlformats.org/drawingml/2006/main">
              <a:ext uri="{FF2B5EF4-FFF2-40B4-BE49-F238E27FC236}">
                <a16:creationId xmlns:a16="http://schemas.microsoft.com/office/drawing/2014/main" id="{24279E88-BD93-4E88-83DF-A79E421855AC}"/>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14</a:t>
            </a:r>
          </a:p>
        </p:txBody>
      </p:sp>
    </p:spTree>
    <p:extLst>
      <p:ext uri="{BB962C8B-B14F-4D97-AF65-F5344CB8AC3E}">
        <p14:creationId xmlns:p14="http://schemas.microsoft.com/office/powerpoint/2010/main" val="649762816"/>
      </p:ext>
    </p:extLst>
  </p:cSld>
</p:sld>
</file>

<file path=ppt/slides/slide15.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C89B132-B0FA-41D2-A257-E47B76494B09}"/>
              </a:ext>
            </a:extLst>
          </p:cNvPr>
          <p:cNvSpPr>
            <a:spLocks xmlns:a="http://schemas.openxmlformats.org/drawingml/2006/main" noGrp="1"/>
          </p:cNvSpPr>
          <p:nvPr/>
        </p:nvSpPr>
        <p:spPr>
          <a:xfrm xmlns:a="http://schemas.openxmlformats.org/drawingml/2006/main">
            <a:off x="723900" y="4953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1616"/>
                </a:solidFill>
                <a:latin typeface="Georgia"/>
                <a:ea typeface="Georgia"/>
                <a:cs typeface="Georgia"/>
              </a:defRPr>
            </a:pPr>
            <a:r>
              <a:rPr sz="3225" b="1">
                <a:solidFill>
                  <a:srgbClr val="161616"/>
                </a:solidFill>
                <a:latin typeface="Georgia"/>
                <a:ea typeface="Georgia"/>
                <a:cs typeface="Georgia"/>
              </a:rPr>
              <a:t>12. The Epiclesis: calling on the Spirit</a:t>
            </a:r>
          </a:p>
        </p:txBody>
      </p:sp>
      <p:sp>
        <p:nvSpPr>
          <p:cNvPr id="2" name="">
            <a:extLst xmlns:a="http://schemas.openxmlformats.org/drawingml/2006/main">
              <a:ext uri="{FF2B5EF4-FFF2-40B4-BE49-F238E27FC236}">
                <a16:creationId xmlns:a16="http://schemas.microsoft.com/office/drawing/2014/main" id="{44B8D1CF-BB5C-4590-B54E-39FFA0F0F832}"/>
              </a:ext>
            </a:extLst>
          </p:cNvPr>
          <p:cNvSpPr>
            <a:spLocks xmlns:a="http://schemas.openxmlformats.org/drawingml/2006/main" noGrp="1"/>
          </p:cNvSpPr>
          <p:nvPr/>
        </p:nvSpPr>
        <p:spPr>
          <a:xfrm xmlns:a="http://schemas.openxmlformats.org/drawingml/2006/main">
            <a:off x="723900" y="176212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Epiclesis means invocation or calling upon. Here the priest calls upon the Holy Spirit to descend upon the gifts. The lesson describes their consecration as Christ’s Body and Blood.</a:t>
            </a:r>
          </a:p>
        </p:txBody>
      </p:sp>
      <p:sp>
        <p:nvSpPr>
          <p:cNvPr id="3" name="">
            <a:extLst xmlns:a="http://schemas.openxmlformats.org/drawingml/2006/main">
              <a:ext uri="{FF2B5EF4-FFF2-40B4-BE49-F238E27FC236}">
                <a16:creationId xmlns:a16="http://schemas.microsoft.com/office/drawing/2014/main" id="{3B5EE353-1E45-4310-9B79-BB775C3AAC7E}"/>
              </a:ext>
            </a:extLst>
          </p:cNvPr>
          <p:cNvSpPr>
            <a:spLocks xmlns:a="http://schemas.openxmlformats.org/drawingml/2006/main" noGrp="1"/>
          </p:cNvSpPr>
          <p:nvPr/>
        </p:nvSpPr>
        <p:spPr>
          <a:xfrm xmlns:a="http://schemas.openxmlformats.org/drawingml/2006/main">
            <a:off x="723900" y="3200400"/>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congregation responds with “Kurielaison,” meaning “Lord, have mercy.” Even while the priest prays quietly, the people participate with attention and prayer.</a:t>
            </a:r>
          </a:p>
        </p:txBody>
      </p:sp>
      <p:sp>
        <p:nvSpPr>
          <p:cNvPr id="4" name="">
            <a:extLst xmlns:a="http://schemas.openxmlformats.org/drawingml/2006/main">
              <a:ext uri="{FF2B5EF4-FFF2-40B4-BE49-F238E27FC236}">
                <a16:creationId xmlns:a16="http://schemas.microsoft.com/office/drawing/2014/main" id="{B891EAE5-494D-4777-8AFE-D35D44F416C4}"/>
              </a:ext>
            </a:extLst>
          </p:cNvPr>
          <p:cNvSpPr>
            <a:spLocks xmlns:a="http://schemas.openxmlformats.org/drawingml/2006/main" noGrp="1"/>
          </p:cNvSpPr>
          <p:nvPr/>
        </p:nvSpPr>
        <p:spPr>
          <a:xfrm xmlns:a="http://schemas.openxmlformats.org/drawingml/2006/main">
            <a:off x="723900" y="463867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Consecration means making holy or setting apart for God. In this part of the service, the word refers to the Holy Spirit’s work in the Eucharistic gifts.</a:t>
            </a:r>
          </a:p>
        </p:txBody>
      </p:sp>
      <p:sp>
        <p:nvSpPr>
          <p:cNvPr id="5" name="">
            <a:extLst xmlns:a="http://schemas.openxmlformats.org/drawingml/2006/main">
              <a:ext uri="{FF2B5EF4-FFF2-40B4-BE49-F238E27FC236}">
                <a16:creationId xmlns:a16="http://schemas.microsoft.com/office/drawing/2014/main" id="{D8AFC3EA-6C21-439E-8AE4-5B4F84B1C766}"/>
              </a:ext>
            </a:extLst>
          </p:cNvPr>
          <p:cNvSpPr>
            <a:spLocks xmlns:a="http://schemas.openxmlformats.org/drawingml/2006/main" noGrp="1"/>
          </p:cNvSpPr>
          <p:nvPr/>
        </p:nvSpPr>
        <p:spPr>
          <a:xfrm xmlns:a="http://schemas.openxmlformats.org/drawingml/2006/main">
            <a:off x="723900" y="64198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Talmido Chapter 7  /  p. 43</a:t>
            </a:r>
          </a:p>
        </p:txBody>
      </p:sp>
      <p:sp>
        <p:nvSpPr>
          <p:cNvPr id="6" name="">
            <a:extLst xmlns:a="http://schemas.openxmlformats.org/drawingml/2006/main">
              <a:ext uri="{FF2B5EF4-FFF2-40B4-BE49-F238E27FC236}">
                <a16:creationId xmlns:a16="http://schemas.microsoft.com/office/drawing/2014/main" id="{FC4A9FE0-5B6E-4F2D-9C2F-A01EE0033C01}"/>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15</a:t>
            </a:r>
          </a:p>
        </p:txBody>
      </p:sp>
    </p:spTree>
    <p:extLst>
      <p:ext uri="{BB962C8B-B14F-4D97-AF65-F5344CB8AC3E}">
        <p14:creationId xmlns:p14="http://schemas.microsoft.com/office/powerpoint/2010/main" val="2026741979"/>
      </p:ext>
    </p:extLst>
  </p:cSld>
</p:sld>
</file>

<file path=ppt/slides/slide16.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405C64E-2768-4A64-B124-C831F35EAC47}"/>
              </a:ext>
            </a:extLst>
          </p:cNvPr>
          <p:cNvSpPr>
            <a:spLocks xmlns:a="http://schemas.openxmlformats.org/drawingml/2006/main" noGrp="1"/>
          </p:cNvSpPr>
          <p:nvPr/>
        </p:nvSpPr>
        <p:spPr>
          <a:xfrm xmlns:a="http://schemas.openxmlformats.org/drawingml/2006/main">
            <a:off x="723900" y="4953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1616"/>
                </a:solidFill>
                <a:latin typeface="Georgia"/>
                <a:ea typeface="Georgia"/>
                <a:cs typeface="Georgia"/>
              </a:defRPr>
            </a:pPr>
            <a:r>
              <a:rPr sz="3225" b="1">
                <a:solidFill>
                  <a:srgbClr val="161616"/>
                </a:solidFill>
                <a:latin typeface="Georgia"/>
                <a:ea typeface="Georgia"/>
                <a:cs typeface="Georgia"/>
              </a:rPr>
              <a:t>13. The Diptychs: prayers for the living</a:t>
            </a:r>
          </a:p>
        </p:txBody>
      </p:sp>
      <p:sp>
        <p:nvSpPr>
          <p:cNvPr id="2" name="">
            <a:extLst xmlns:a="http://schemas.openxmlformats.org/drawingml/2006/main">
              <a:ext uri="{FF2B5EF4-FFF2-40B4-BE49-F238E27FC236}">
                <a16:creationId xmlns:a16="http://schemas.microsoft.com/office/drawing/2014/main" id="{E66B1B49-B2AC-421B-A72F-66FE7F3293AE}"/>
              </a:ext>
            </a:extLst>
          </p:cNvPr>
          <p:cNvSpPr>
            <a:spLocks xmlns:a="http://schemas.openxmlformats.org/drawingml/2006/main" noGrp="1"/>
          </p:cNvSpPr>
          <p:nvPr/>
        </p:nvSpPr>
        <p:spPr>
          <a:xfrm xmlns:a="http://schemas.openxmlformats.org/drawingml/2006/main">
            <a:off x="723900" y="176212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Diptychs, also called Thubden, are the prayers of remembrance and intercession. Having drawn near to God, we bring the needs of the whole Church before Him.</a:t>
            </a:r>
          </a:p>
        </p:txBody>
      </p:sp>
      <p:sp>
        <p:nvSpPr>
          <p:cNvPr id="3" name="">
            <a:extLst xmlns:a="http://schemas.openxmlformats.org/drawingml/2006/main">
              <a:ext uri="{FF2B5EF4-FFF2-40B4-BE49-F238E27FC236}">
                <a16:creationId xmlns:a16="http://schemas.microsoft.com/office/drawing/2014/main" id="{6CA07DF5-4893-44A1-B7CF-BB0865A54213}"/>
              </a:ext>
            </a:extLst>
          </p:cNvPr>
          <p:cNvSpPr>
            <a:spLocks xmlns:a="http://schemas.openxmlformats.org/drawingml/2006/main" noGrp="1"/>
          </p:cNvSpPr>
          <p:nvPr/>
        </p:nvSpPr>
        <p:spPr>
          <a:xfrm xmlns:a="http://schemas.openxmlformats.org/drawingml/2006/main">
            <a:off x="723900" y="3200400"/>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first remembers living Church leaders. The second remembers the sick, the suffering, and people who have requested prayer. The third remembers those in civil authority.</a:t>
            </a:r>
          </a:p>
        </p:txBody>
      </p:sp>
      <p:sp>
        <p:nvSpPr>
          <p:cNvPr id="4" name="">
            <a:extLst xmlns:a="http://schemas.openxmlformats.org/drawingml/2006/main">
              <a:ext uri="{FF2B5EF4-FFF2-40B4-BE49-F238E27FC236}">
                <a16:creationId xmlns:a16="http://schemas.microsoft.com/office/drawing/2014/main" id="{C0D21E5D-09BC-46E6-99D5-A12325CFACDB}"/>
              </a:ext>
            </a:extLst>
          </p:cNvPr>
          <p:cNvSpPr>
            <a:spLocks xmlns:a="http://schemas.openxmlformats.org/drawingml/2006/main" noGrp="1"/>
          </p:cNvSpPr>
          <p:nvPr/>
        </p:nvSpPr>
        <p:spPr>
          <a:xfrm xmlns:a="http://schemas.openxmlformats.org/drawingml/2006/main">
            <a:off x="723900" y="463867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congregation continues to respond, “Lord, have mercy.” Sitting during these prayers does not mean our participation has stopped.</a:t>
            </a:r>
          </a:p>
        </p:txBody>
      </p:sp>
      <p:sp>
        <p:nvSpPr>
          <p:cNvPr id="5" name="">
            <a:extLst xmlns:a="http://schemas.openxmlformats.org/drawingml/2006/main">
              <a:ext uri="{FF2B5EF4-FFF2-40B4-BE49-F238E27FC236}">
                <a16:creationId xmlns:a16="http://schemas.microsoft.com/office/drawing/2014/main" id="{D9CB711E-BE65-4F2C-B58C-7A7D4DC429A5}"/>
              </a:ext>
            </a:extLst>
          </p:cNvPr>
          <p:cNvSpPr>
            <a:spLocks xmlns:a="http://schemas.openxmlformats.org/drawingml/2006/main" noGrp="1"/>
          </p:cNvSpPr>
          <p:nvPr/>
        </p:nvSpPr>
        <p:spPr>
          <a:xfrm xmlns:a="http://schemas.openxmlformats.org/drawingml/2006/main">
            <a:off x="723900" y="64198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Talmido Chapter 7  /  pp. 43–44</a:t>
            </a:r>
          </a:p>
        </p:txBody>
      </p:sp>
      <p:sp>
        <p:nvSpPr>
          <p:cNvPr id="6" name="">
            <a:extLst xmlns:a="http://schemas.openxmlformats.org/drawingml/2006/main">
              <a:ext uri="{FF2B5EF4-FFF2-40B4-BE49-F238E27FC236}">
                <a16:creationId xmlns:a16="http://schemas.microsoft.com/office/drawing/2014/main" id="{13F16791-8849-4521-88B2-EF29B71B3F4E}"/>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16</a:t>
            </a:r>
          </a:p>
        </p:txBody>
      </p:sp>
    </p:spTree>
    <p:extLst>
      <p:ext uri="{BB962C8B-B14F-4D97-AF65-F5344CB8AC3E}">
        <p14:creationId xmlns:p14="http://schemas.microsoft.com/office/powerpoint/2010/main" val="2145350697"/>
      </p:ext>
    </p:extLst>
  </p:cSld>
</p:sld>
</file>

<file path=ppt/slides/slide17.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08C45D-295C-4582-AC31-6AB986C23FA4}"/>
              </a:ext>
            </a:extLst>
          </p:cNvPr>
          <p:cNvSpPr>
            <a:spLocks xmlns:a="http://schemas.openxmlformats.org/drawingml/2006/main" noGrp="1"/>
          </p:cNvSpPr>
          <p:nvPr/>
        </p:nvSpPr>
        <p:spPr>
          <a:xfrm xmlns:a="http://schemas.openxmlformats.org/drawingml/2006/main">
            <a:off x="723900" y="4953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1616"/>
                </a:solidFill>
                <a:latin typeface="Georgia"/>
                <a:ea typeface="Georgia"/>
                <a:cs typeface="Georgia"/>
              </a:defRPr>
            </a:pPr>
            <a:r>
              <a:rPr sz="3225" b="1">
                <a:solidFill>
                  <a:srgbClr val="161616"/>
                </a:solidFill>
                <a:latin typeface="Georgia"/>
                <a:ea typeface="Georgia"/>
                <a:cs typeface="Georgia"/>
              </a:rPr>
              <a:t>The Diptychs: saints and the departed</a:t>
            </a:r>
          </a:p>
        </p:txBody>
      </p:sp>
      <p:sp>
        <p:nvSpPr>
          <p:cNvPr id="2" name="">
            <a:extLst xmlns:a="http://schemas.openxmlformats.org/drawingml/2006/main">
              <a:ext uri="{FF2B5EF4-FFF2-40B4-BE49-F238E27FC236}">
                <a16:creationId xmlns:a16="http://schemas.microsoft.com/office/drawing/2014/main" id="{A937F59D-81DA-40D0-9CEB-A16342A77D9C}"/>
              </a:ext>
            </a:extLst>
          </p:cNvPr>
          <p:cNvSpPr>
            <a:spLocks xmlns:a="http://schemas.openxmlformats.org/drawingml/2006/main" noGrp="1"/>
          </p:cNvSpPr>
          <p:nvPr/>
        </p:nvSpPr>
        <p:spPr>
          <a:xfrm xmlns:a="http://schemas.openxmlformats.org/drawingml/2006/main">
            <a:off x="723900" y="176212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fourth Diptych commemorates St. Mary and the saints. The fifth remembers the teachers, or doctors, of the Church who preserved and handed down the faith.</a:t>
            </a:r>
          </a:p>
        </p:txBody>
      </p:sp>
      <p:sp>
        <p:nvSpPr>
          <p:cNvPr id="3" name="">
            <a:extLst xmlns:a="http://schemas.openxmlformats.org/drawingml/2006/main">
              <a:ext uri="{FF2B5EF4-FFF2-40B4-BE49-F238E27FC236}">
                <a16:creationId xmlns:a16="http://schemas.microsoft.com/office/drawing/2014/main" id="{9E5F5146-CF02-48B1-A512-38F916A7C3DF}"/>
              </a:ext>
            </a:extLst>
          </p:cNvPr>
          <p:cNvSpPr>
            <a:spLocks xmlns:a="http://schemas.openxmlformats.org/drawingml/2006/main" noGrp="1"/>
          </p:cNvSpPr>
          <p:nvPr/>
        </p:nvSpPr>
        <p:spPr>
          <a:xfrm xmlns:a="http://schemas.openxmlformats.org/drawingml/2006/main">
            <a:off x="723900" y="3200400"/>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sixth remembers all the faithful departed, including our loved ones who have died. “Departed” means those who have passed from this life.</a:t>
            </a:r>
          </a:p>
        </p:txBody>
      </p:sp>
      <p:sp>
        <p:nvSpPr>
          <p:cNvPr id="4" name="">
            <a:extLst xmlns:a="http://schemas.openxmlformats.org/drawingml/2006/main">
              <a:ext uri="{FF2B5EF4-FFF2-40B4-BE49-F238E27FC236}">
                <a16:creationId xmlns:a16="http://schemas.microsoft.com/office/drawing/2014/main" id="{131E257A-B9DB-4CF9-BA70-6A0E67496A11}"/>
              </a:ext>
            </a:extLst>
          </p:cNvPr>
          <p:cNvSpPr>
            <a:spLocks xmlns:a="http://schemas.openxmlformats.org/drawingml/2006/main" noGrp="1"/>
          </p:cNvSpPr>
          <p:nvPr/>
        </p:nvSpPr>
        <p:spPr>
          <a:xfrm xmlns:a="http://schemas.openxmlformats.org/drawingml/2006/main">
            <a:off x="723900" y="463867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This answers an important chapter question: the Holy Qurbana is the worship of a communion that includes the living and the departed.</a:t>
            </a:r>
          </a:p>
        </p:txBody>
      </p:sp>
      <p:sp>
        <p:nvSpPr>
          <p:cNvPr id="5" name="">
            <a:extLst xmlns:a="http://schemas.openxmlformats.org/drawingml/2006/main">
              <a:ext uri="{FF2B5EF4-FFF2-40B4-BE49-F238E27FC236}">
                <a16:creationId xmlns:a16="http://schemas.microsoft.com/office/drawing/2014/main" id="{86F78666-CDC9-4B39-BA39-F6C18132247D}"/>
              </a:ext>
            </a:extLst>
          </p:cNvPr>
          <p:cNvSpPr>
            <a:spLocks xmlns:a="http://schemas.openxmlformats.org/drawingml/2006/main" noGrp="1"/>
          </p:cNvSpPr>
          <p:nvPr/>
        </p:nvSpPr>
        <p:spPr>
          <a:xfrm xmlns:a="http://schemas.openxmlformats.org/drawingml/2006/main">
            <a:off x="723900" y="64198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Talmido Chapter 7  /  p. 44</a:t>
            </a:r>
          </a:p>
        </p:txBody>
      </p:sp>
      <p:sp>
        <p:nvSpPr>
          <p:cNvPr id="6" name="">
            <a:extLst xmlns:a="http://schemas.openxmlformats.org/drawingml/2006/main">
              <a:ext uri="{FF2B5EF4-FFF2-40B4-BE49-F238E27FC236}">
                <a16:creationId xmlns:a16="http://schemas.microsoft.com/office/drawing/2014/main" id="{D35037E1-2350-4CD1-B6AC-6A5085D8B27A}"/>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17</a:t>
            </a:r>
          </a:p>
        </p:txBody>
      </p:sp>
    </p:spTree>
    <p:extLst>
      <p:ext uri="{BB962C8B-B14F-4D97-AF65-F5344CB8AC3E}">
        <p14:creationId xmlns:p14="http://schemas.microsoft.com/office/powerpoint/2010/main" val="2068618871"/>
      </p:ext>
    </p:extLst>
  </p:cSld>
</p:sld>
</file>

<file path=ppt/slides/slide18.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C68CD1-BBF2-461C-B112-DDC55EB9D6FA}"/>
              </a:ext>
            </a:extLst>
          </p:cNvPr>
          <p:cNvSpPr>
            <a:spLocks xmlns:a="http://schemas.openxmlformats.org/drawingml/2006/main" noGrp="1"/>
          </p:cNvSpPr>
          <p:nvPr/>
        </p:nvSpPr>
        <p:spPr>
          <a:xfrm xmlns:a="http://schemas.openxmlformats.org/drawingml/2006/main">
            <a:off x="723900" y="4953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1616"/>
                </a:solidFill>
                <a:latin typeface="Georgia"/>
                <a:ea typeface="Georgia"/>
                <a:cs typeface="Georgia"/>
              </a:defRPr>
            </a:pPr>
            <a:r>
              <a:rPr sz="3225" b="1">
                <a:solidFill>
                  <a:srgbClr val="161616"/>
                </a:solidFill>
                <a:latin typeface="Georgia"/>
                <a:ea typeface="Georgia"/>
                <a:cs typeface="Georgia"/>
              </a:rPr>
              <a:t>14. The Fraction and the Lord’s Prayer</a:t>
            </a:r>
          </a:p>
        </p:txBody>
      </p:sp>
      <p:sp>
        <p:nvSpPr>
          <p:cNvPr id="2" name="">
            <a:extLst xmlns:a="http://schemas.openxmlformats.org/drawingml/2006/main">
              <a:ext uri="{FF2B5EF4-FFF2-40B4-BE49-F238E27FC236}">
                <a16:creationId xmlns:a16="http://schemas.microsoft.com/office/drawing/2014/main" id="{3776C685-3D09-4541-9CEA-A7F795A89F32}"/>
              </a:ext>
            </a:extLst>
          </p:cNvPr>
          <p:cNvSpPr>
            <a:spLocks xmlns:a="http://schemas.openxmlformats.org/drawingml/2006/main" noGrp="1"/>
          </p:cNvSpPr>
          <p:nvPr/>
        </p:nvSpPr>
        <p:spPr>
          <a:xfrm xmlns:a="http://schemas.openxmlformats.org/drawingml/2006/main">
            <a:off x="723900" y="176212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During the Fraction, the curtain closes and the priest breaks the consecrated Bread. The lesson connects this solemn action with Christ’s death and preparation for burial.</a:t>
            </a:r>
          </a:p>
        </p:txBody>
      </p:sp>
      <p:sp>
        <p:nvSpPr>
          <p:cNvPr id="3" name="">
            <a:extLst xmlns:a="http://schemas.openxmlformats.org/drawingml/2006/main">
              <a:ext uri="{FF2B5EF4-FFF2-40B4-BE49-F238E27FC236}">
                <a16:creationId xmlns:a16="http://schemas.microsoft.com/office/drawing/2014/main" id="{3D0A54DB-8890-48F3-8417-5205EC4BDD5B}"/>
              </a:ext>
            </a:extLst>
          </p:cNvPr>
          <p:cNvSpPr>
            <a:spLocks xmlns:a="http://schemas.openxmlformats.org/drawingml/2006/main" noGrp="1"/>
          </p:cNvSpPr>
          <p:nvPr/>
        </p:nvSpPr>
        <p:spPr>
          <a:xfrm xmlns:a="http://schemas.openxmlformats.org/drawingml/2006/main">
            <a:off x="723900" y="3200400"/>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When the curtain opens again, we pray the Lord’s Prayer. Calling God “Our Father” expresses the closeness with Him that Christ restores.</a:t>
            </a:r>
          </a:p>
        </p:txBody>
      </p:sp>
      <p:sp>
        <p:nvSpPr>
          <p:cNvPr id="4" name="">
            <a:extLst xmlns:a="http://schemas.openxmlformats.org/drawingml/2006/main">
              <a:ext uri="{FF2B5EF4-FFF2-40B4-BE49-F238E27FC236}">
                <a16:creationId xmlns:a16="http://schemas.microsoft.com/office/drawing/2014/main" id="{7493C50E-12BF-4E17-A50F-E0506617F2B7}"/>
              </a:ext>
            </a:extLst>
          </p:cNvPr>
          <p:cNvSpPr>
            <a:spLocks xmlns:a="http://schemas.openxmlformats.org/drawingml/2006/main" noGrp="1"/>
          </p:cNvSpPr>
          <p:nvPr/>
        </p:nvSpPr>
        <p:spPr>
          <a:xfrm xmlns:a="http://schemas.openxmlformats.org/drawingml/2006/main">
            <a:off x="723900" y="463867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request for daily bread also prepares us to receive Christ, the Bread of Life. We depend on God for our nourishment and life.</a:t>
            </a:r>
          </a:p>
        </p:txBody>
      </p:sp>
      <p:sp>
        <p:nvSpPr>
          <p:cNvPr id="5" name="">
            <a:extLst xmlns:a="http://schemas.openxmlformats.org/drawingml/2006/main">
              <a:ext uri="{FF2B5EF4-FFF2-40B4-BE49-F238E27FC236}">
                <a16:creationId xmlns:a16="http://schemas.microsoft.com/office/drawing/2014/main" id="{4B35AD81-A96D-40C3-A8B4-423E24DFFF96}"/>
              </a:ext>
            </a:extLst>
          </p:cNvPr>
          <p:cNvSpPr>
            <a:spLocks xmlns:a="http://schemas.openxmlformats.org/drawingml/2006/main" noGrp="1"/>
          </p:cNvSpPr>
          <p:nvPr/>
        </p:nvSpPr>
        <p:spPr>
          <a:xfrm xmlns:a="http://schemas.openxmlformats.org/drawingml/2006/main">
            <a:off x="723900" y="64198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Talmido Chapter 7  /  p. 44</a:t>
            </a:r>
          </a:p>
        </p:txBody>
      </p:sp>
      <p:sp>
        <p:nvSpPr>
          <p:cNvPr id="6" name="">
            <a:extLst xmlns:a="http://schemas.openxmlformats.org/drawingml/2006/main">
              <a:ext uri="{FF2B5EF4-FFF2-40B4-BE49-F238E27FC236}">
                <a16:creationId xmlns:a16="http://schemas.microsoft.com/office/drawing/2014/main" id="{DC9CEAB4-891E-4937-BC11-B4C023FF0FDF}"/>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18</a:t>
            </a:r>
          </a:p>
        </p:txBody>
      </p:sp>
    </p:spTree>
    <p:extLst>
      <p:ext uri="{BB962C8B-B14F-4D97-AF65-F5344CB8AC3E}">
        <p14:creationId xmlns:p14="http://schemas.microsoft.com/office/powerpoint/2010/main" val="241295893"/>
      </p:ext>
    </p:extLst>
  </p:cSld>
</p:sld>
</file>

<file path=ppt/slides/slide19.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6C1FCF4-DBA5-4466-88CC-D835E9CD4DFF}"/>
              </a:ext>
            </a:extLst>
          </p:cNvPr>
          <p:cNvSpPr>
            <a:spLocks xmlns:a="http://schemas.openxmlformats.org/drawingml/2006/main" noGrp="1"/>
          </p:cNvSpPr>
          <p:nvPr/>
        </p:nvSpPr>
        <p:spPr>
          <a:xfrm xmlns:a="http://schemas.openxmlformats.org/drawingml/2006/main">
            <a:off x="723900" y="4953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1616"/>
                </a:solidFill>
                <a:latin typeface="Georgia"/>
                <a:ea typeface="Georgia"/>
                <a:cs typeface="Georgia"/>
              </a:defRPr>
            </a:pPr>
            <a:r>
              <a:rPr sz="3225" b="1">
                <a:solidFill>
                  <a:srgbClr val="161616"/>
                </a:solidFill>
                <a:latin typeface="Georgia"/>
                <a:ea typeface="Georgia"/>
                <a:cs typeface="Georgia"/>
              </a:rPr>
              <a:t>15. The Elevation and Holy Communion</a:t>
            </a:r>
          </a:p>
        </p:txBody>
      </p:sp>
      <p:sp>
        <p:nvSpPr>
          <p:cNvPr id="2" name="">
            <a:extLst xmlns:a="http://schemas.openxmlformats.org/drawingml/2006/main">
              <a:ext uri="{FF2B5EF4-FFF2-40B4-BE49-F238E27FC236}">
                <a16:creationId xmlns:a16="http://schemas.microsoft.com/office/drawing/2014/main" id="{D42C64BB-A925-47AA-A6E1-A17A4EDD6B7E}"/>
              </a:ext>
            </a:extLst>
          </p:cNvPr>
          <p:cNvSpPr>
            <a:spLocks xmlns:a="http://schemas.openxmlformats.org/drawingml/2006/main" noGrp="1"/>
          </p:cNvSpPr>
          <p:nvPr/>
        </p:nvSpPr>
        <p:spPr>
          <a:xfrm xmlns:a="http://schemas.openxmlformats.org/drawingml/2006/main">
            <a:off x="723900" y="176212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priest lifts the paten and chalice containing the Holy Mysteries. This is the Elevation. The congregation glorifies the Father, Son, and Holy Spirit as holy.</a:t>
            </a:r>
          </a:p>
        </p:txBody>
      </p:sp>
      <p:sp>
        <p:nvSpPr>
          <p:cNvPr id="3" name="">
            <a:extLst xmlns:a="http://schemas.openxmlformats.org/drawingml/2006/main">
              <a:ext uri="{FF2B5EF4-FFF2-40B4-BE49-F238E27FC236}">
                <a16:creationId xmlns:a16="http://schemas.microsoft.com/office/drawing/2014/main" id="{71D63897-A865-4457-8581-E233537BD8F1}"/>
              </a:ext>
            </a:extLst>
          </p:cNvPr>
          <p:cNvSpPr>
            <a:spLocks xmlns:a="http://schemas.openxmlformats.org/drawingml/2006/main" noGrp="1"/>
          </p:cNvSpPr>
          <p:nvPr/>
        </p:nvSpPr>
        <p:spPr>
          <a:xfrm xmlns:a="http://schemas.openxmlformats.org/drawingml/2006/main">
            <a:off x="723900" y="3200400"/>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priest then brings the Mysteries to the people for Communion. We receive Christ with reverence because of who He is and the holiness of His gift.</a:t>
            </a:r>
          </a:p>
        </p:txBody>
      </p:sp>
      <p:sp>
        <p:nvSpPr>
          <p:cNvPr id="4" name="">
            <a:extLst xmlns:a="http://schemas.openxmlformats.org/drawingml/2006/main">
              <a:ext uri="{FF2B5EF4-FFF2-40B4-BE49-F238E27FC236}">
                <a16:creationId xmlns:a16="http://schemas.microsoft.com/office/drawing/2014/main" id="{6B03FF6C-827C-4036-AC01-7687445B32E4}"/>
              </a:ext>
            </a:extLst>
          </p:cNvPr>
          <p:cNvSpPr>
            <a:spLocks xmlns:a="http://schemas.openxmlformats.org/drawingml/2006/main" noGrp="1"/>
          </p:cNvSpPr>
          <p:nvPr/>
        </p:nvSpPr>
        <p:spPr>
          <a:xfrm xmlns:a="http://schemas.openxmlformats.org/drawingml/2006/main">
            <a:off x="723900" y="463867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chapter calls us to approach with a repentant heart. Holy Confession and guidance from our spiritual father help us prepare to receive.</a:t>
            </a:r>
          </a:p>
        </p:txBody>
      </p:sp>
      <p:sp>
        <p:nvSpPr>
          <p:cNvPr id="5" name="">
            <a:extLst xmlns:a="http://schemas.openxmlformats.org/drawingml/2006/main">
              <a:ext uri="{FF2B5EF4-FFF2-40B4-BE49-F238E27FC236}">
                <a16:creationId xmlns:a16="http://schemas.microsoft.com/office/drawing/2014/main" id="{DC9898AA-2A0A-4B67-83C2-608077153149}"/>
              </a:ext>
            </a:extLst>
          </p:cNvPr>
          <p:cNvSpPr>
            <a:spLocks xmlns:a="http://schemas.openxmlformats.org/drawingml/2006/main" noGrp="1"/>
          </p:cNvSpPr>
          <p:nvPr/>
        </p:nvSpPr>
        <p:spPr>
          <a:xfrm xmlns:a="http://schemas.openxmlformats.org/drawingml/2006/main">
            <a:off x="723900" y="64198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Talmido Chapter 7  /  pp. 44–45</a:t>
            </a:r>
          </a:p>
        </p:txBody>
      </p:sp>
      <p:sp>
        <p:nvSpPr>
          <p:cNvPr id="6" name="">
            <a:extLst xmlns:a="http://schemas.openxmlformats.org/drawingml/2006/main">
              <a:ext uri="{FF2B5EF4-FFF2-40B4-BE49-F238E27FC236}">
                <a16:creationId xmlns:a16="http://schemas.microsoft.com/office/drawing/2014/main" id="{D2010E34-BC90-4B5A-BB85-1410ADB88D30}"/>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19</a:t>
            </a:r>
          </a:p>
        </p:txBody>
      </p:sp>
    </p:spTree>
    <p:extLst>
      <p:ext uri="{BB962C8B-B14F-4D97-AF65-F5344CB8AC3E}">
        <p14:creationId xmlns:p14="http://schemas.microsoft.com/office/powerpoint/2010/main" val="1674529068"/>
      </p:ext>
    </p:extLst>
  </p:cSld>
</p:sld>
</file>

<file path=ppt/slides/slide20.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1CFF4D4-8762-4DD6-A2E3-96E318F83355}"/>
              </a:ext>
            </a:extLst>
          </p:cNvPr>
          <p:cNvSpPr>
            <a:spLocks xmlns:a="http://schemas.openxmlformats.org/drawingml/2006/main" noGrp="1"/>
          </p:cNvSpPr>
          <p:nvPr/>
        </p:nvSpPr>
        <p:spPr>
          <a:xfrm xmlns:a="http://schemas.openxmlformats.org/drawingml/2006/main">
            <a:off x="723900" y="4953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1616"/>
                </a:solidFill>
                <a:latin typeface="Georgia"/>
                <a:ea typeface="Georgia"/>
                <a:cs typeface="Georgia"/>
              </a:defRPr>
            </a:pPr>
            <a:r>
              <a:rPr sz="3225" b="1">
                <a:solidFill>
                  <a:srgbClr val="161616"/>
                </a:solidFill>
                <a:latin typeface="Georgia"/>
                <a:ea typeface="Georgia"/>
                <a:cs typeface="Georgia"/>
              </a:rPr>
              <a:t>What changes after we leave church?</a:t>
            </a:r>
          </a:p>
        </p:txBody>
      </p:sp>
      <p:sp>
        <p:nvSpPr>
          <p:cNvPr id="2" name="">
            <a:extLst xmlns:a="http://schemas.openxmlformats.org/drawingml/2006/main">
              <a:ext uri="{FF2B5EF4-FFF2-40B4-BE49-F238E27FC236}">
                <a16:creationId xmlns:a16="http://schemas.microsoft.com/office/drawing/2014/main" id="{FFDD9D93-A8CC-4265-8CF7-3EF5BF25CBDD}"/>
              </a:ext>
            </a:extLst>
          </p:cNvPr>
          <p:cNvSpPr>
            <a:spLocks xmlns:a="http://schemas.openxmlformats.org/drawingml/2006/main" noGrp="1"/>
          </p:cNvSpPr>
          <p:nvPr/>
        </p:nvSpPr>
        <p:spPr>
          <a:xfrm xmlns:a="http://schemas.openxmlformats.org/drawingml/2006/main">
            <a:off x="723900" y="176212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The Holy Qurbana gives us a foundation for everyday life. The love and peace we receive should shape how we speak, forgive, and care for other people.</a:t>
            </a:r>
          </a:p>
        </p:txBody>
      </p:sp>
      <p:sp>
        <p:nvSpPr>
          <p:cNvPr id="3" name="">
            <a:extLst xmlns:a="http://schemas.openxmlformats.org/drawingml/2006/main">
              <a:ext uri="{FF2B5EF4-FFF2-40B4-BE49-F238E27FC236}">
                <a16:creationId xmlns:a16="http://schemas.microsoft.com/office/drawing/2014/main" id="{83FE3988-B188-44F0-9AC3-80B9963383BA}"/>
              </a:ext>
            </a:extLst>
          </p:cNvPr>
          <p:cNvSpPr>
            <a:spLocks xmlns:a="http://schemas.openxmlformats.org/drawingml/2006/main" noGrp="1"/>
          </p:cNvSpPr>
          <p:nvPr/>
        </p:nvSpPr>
        <p:spPr>
          <a:xfrm xmlns:a="http://schemas.openxmlformats.org/drawingml/2006/main">
            <a:off x="723900" y="3200400"/>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For example, someone who shares the Kiss of Peace on Sunday can practice that peace by welcoming a lonely classmate on Monday or making amends after an argument.</a:t>
            </a:r>
          </a:p>
        </p:txBody>
      </p:sp>
      <p:sp>
        <p:nvSpPr>
          <p:cNvPr id="4" name="">
            <a:extLst xmlns:a="http://schemas.openxmlformats.org/drawingml/2006/main">
              <a:ext uri="{FF2B5EF4-FFF2-40B4-BE49-F238E27FC236}">
                <a16:creationId xmlns:a16="http://schemas.microsoft.com/office/drawing/2014/main" id="{80E1E132-5725-4141-A33C-4EC83A105237}"/>
              </a:ext>
            </a:extLst>
          </p:cNvPr>
          <p:cNvSpPr>
            <a:spLocks xmlns:a="http://schemas.openxmlformats.org/drawingml/2006/main" noGrp="1"/>
          </p:cNvSpPr>
          <p:nvPr/>
        </p:nvSpPr>
        <p:spPr>
          <a:xfrm xmlns:a="http://schemas.openxmlformats.org/drawingml/2006/main">
            <a:off x="723900" y="463867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As we grow, familiar prayers can take on deeper meaning. Ask: Which part of the service will you pay closer attention to next Sunday, and why?</a:t>
            </a:r>
          </a:p>
        </p:txBody>
      </p:sp>
      <p:sp>
        <p:nvSpPr>
          <p:cNvPr id="5" name="">
            <a:extLst xmlns:a="http://schemas.openxmlformats.org/drawingml/2006/main">
              <a:ext uri="{FF2B5EF4-FFF2-40B4-BE49-F238E27FC236}">
                <a16:creationId xmlns:a16="http://schemas.microsoft.com/office/drawing/2014/main" id="{84B07A96-6A64-4727-98D9-1B5DB5ED24F7}"/>
              </a:ext>
            </a:extLst>
          </p:cNvPr>
          <p:cNvSpPr>
            <a:spLocks xmlns:a="http://schemas.openxmlformats.org/drawingml/2006/main" noGrp="1"/>
          </p:cNvSpPr>
          <p:nvPr/>
        </p:nvSpPr>
        <p:spPr>
          <a:xfrm xmlns:a="http://schemas.openxmlformats.org/drawingml/2006/main">
            <a:off x="723900" y="64198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Talmido Chapter 7  /  pp. 38, 45–46</a:t>
            </a:r>
          </a:p>
        </p:txBody>
      </p:sp>
      <p:sp>
        <p:nvSpPr>
          <p:cNvPr id="6" name="">
            <a:extLst xmlns:a="http://schemas.openxmlformats.org/drawingml/2006/main">
              <a:ext uri="{FF2B5EF4-FFF2-40B4-BE49-F238E27FC236}">
                <a16:creationId xmlns:a16="http://schemas.microsoft.com/office/drawing/2014/main" id="{8025D3FC-A0F0-454C-90C4-A3606DBD6AA5}"/>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20</a:t>
            </a:r>
          </a:p>
        </p:txBody>
      </p:sp>
    </p:spTree>
    <p:extLst>
      <p:ext uri="{BB962C8B-B14F-4D97-AF65-F5344CB8AC3E}">
        <p14:creationId xmlns:p14="http://schemas.microsoft.com/office/powerpoint/2010/main" val="365227248"/>
      </p:ext>
    </p:extLst>
  </p:cSld>
</p:sld>
</file>

<file path=ppt/slides/slide21.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EA40FA-7548-40D7-AB5F-14E91696D665}"/>
              </a:ext>
            </a:extLst>
          </p:cNvPr>
          <p:cNvSpPr>
            <a:spLocks xmlns:a="http://schemas.openxmlformats.org/drawingml/2006/main" noGrp="1"/>
          </p:cNvSpPr>
          <p:nvPr/>
        </p:nvSpPr>
        <p:spPr>
          <a:xfrm xmlns:a="http://schemas.openxmlformats.org/drawingml/2006/main">
            <a:off x="723900" y="4953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1616"/>
                </a:solidFill>
                <a:latin typeface="Georgia"/>
                <a:ea typeface="Georgia"/>
                <a:cs typeface="Georgia"/>
              </a:defRPr>
            </a:pPr>
            <a:r>
              <a:rPr sz="3225" b="1">
                <a:solidFill>
                  <a:srgbClr val="161616"/>
                </a:solidFill>
                <a:latin typeface="Georgia"/>
                <a:ea typeface="Georgia"/>
                <a:cs typeface="Georgia"/>
              </a:rPr>
              <a:t>Chapter 7: questions to talk through</a:t>
            </a:r>
          </a:p>
        </p:txBody>
      </p:sp>
      <p:sp>
        <p:nvSpPr>
          <p:cNvPr id="2" name="">
            <a:extLst xmlns:a="http://schemas.openxmlformats.org/drawingml/2006/main">
              <a:ext uri="{FF2B5EF4-FFF2-40B4-BE49-F238E27FC236}">
                <a16:creationId xmlns:a16="http://schemas.microsoft.com/office/drawing/2014/main" id="{548102C8-B718-47B0-BEA6-02856EF835EF}"/>
              </a:ext>
            </a:extLst>
          </p:cNvPr>
          <p:cNvSpPr>
            <a:spLocks xmlns:a="http://schemas.openxmlformats.org/drawingml/2006/main" noGrp="1"/>
          </p:cNvSpPr>
          <p:nvPr/>
        </p:nvSpPr>
        <p:spPr>
          <a:xfrm xmlns:a="http://schemas.openxmlformats.org/drawingml/2006/main">
            <a:off x="723900" y="176212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1. What are the two main parts of the Holy Qurbana? Why is the first part also called the Liturgy of the Catechumens?</a:t>
            </a:r>
          </a:p>
        </p:txBody>
      </p:sp>
      <p:sp>
        <p:nvSpPr>
          <p:cNvPr id="3" name="">
            <a:extLst xmlns:a="http://schemas.openxmlformats.org/drawingml/2006/main">
              <a:ext uri="{FF2B5EF4-FFF2-40B4-BE49-F238E27FC236}">
                <a16:creationId xmlns:a16="http://schemas.microsoft.com/office/drawing/2014/main" id="{9F6FD7B2-0FC0-4C8E-9451-1BB207D4A767}"/>
              </a:ext>
            </a:extLst>
          </p:cNvPr>
          <p:cNvSpPr>
            <a:spLocks xmlns:a="http://schemas.openxmlformats.org/drawingml/2006/main" noGrp="1"/>
          </p:cNvSpPr>
          <p:nvPr/>
        </p:nvSpPr>
        <p:spPr>
          <a:xfrm xmlns:a="http://schemas.openxmlformats.org/drawingml/2006/main">
            <a:off x="723900" y="3200400"/>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2. Why does the candle bearer go ahead of the priest? What should sharing the Kiss of Peace mean in our relationships?</a:t>
            </a:r>
          </a:p>
        </p:txBody>
      </p:sp>
      <p:sp>
        <p:nvSpPr>
          <p:cNvPr id="4" name="">
            <a:extLst xmlns:a="http://schemas.openxmlformats.org/drawingml/2006/main">
              <a:ext uri="{FF2B5EF4-FFF2-40B4-BE49-F238E27FC236}">
                <a16:creationId xmlns:a16="http://schemas.microsoft.com/office/drawing/2014/main" id="{18025C7D-E4C7-4345-AD0F-55395C28CB04}"/>
              </a:ext>
            </a:extLst>
          </p:cNvPr>
          <p:cNvSpPr>
            <a:spLocks xmlns:a="http://schemas.openxmlformats.org/drawingml/2006/main" noGrp="1"/>
          </p:cNvSpPr>
          <p:nvPr/>
        </p:nvSpPr>
        <p:spPr>
          <a:xfrm xmlns:a="http://schemas.openxmlformats.org/drawingml/2006/main">
            <a:off x="723900" y="463867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3. What is the Epiclesis? How do the Diptychs show that our worship includes both the living and the departed?</a:t>
            </a:r>
          </a:p>
        </p:txBody>
      </p:sp>
      <p:sp>
        <p:nvSpPr>
          <p:cNvPr id="5" name="">
            <a:extLst xmlns:a="http://schemas.openxmlformats.org/drawingml/2006/main">
              <a:ext uri="{FF2B5EF4-FFF2-40B4-BE49-F238E27FC236}">
                <a16:creationId xmlns:a16="http://schemas.microsoft.com/office/drawing/2014/main" id="{E2164CA1-65BF-4C3C-AB2D-95ECBCE06635}"/>
              </a:ext>
            </a:extLst>
          </p:cNvPr>
          <p:cNvSpPr>
            <a:spLocks xmlns:a="http://schemas.openxmlformats.org/drawingml/2006/main" noGrp="1"/>
          </p:cNvSpPr>
          <p:nvPr/>
        </p:nvSpPr>
        <p:spPr>
          <a:xfrm xmlns:a="http://schemas.openxmlformats.org/drawingml/2006/main">
            <a:off x="723900" y="64198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Talmido Chapter 7  /  pp. 39–45</a:t>
            </a:r>
          </a:p>
        </p:txBody>
      </p:sp>
      <p:sp>
        <p:nvSpPr>
          <p:cNvPr id="6" name="">
            <a:extLst xmlns:a="http://schemas.openxmlformats.org/drawingml/2006/main">
              <a:ext uri="{FF2B5EF4-FFF2-40B4-BE49-F238E27FC236}">
                <a16:creationId xmlns:a16="http://schemas.microsoft.com/office/drawing/2014/main" id="{1A4F0287-E276-469A-AEE4-944848E0BC84}"/>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21</a:t>
            </a:r>
          </a:p>
        </p:txBody>
      </p:sp>
    </p:spTree>
    <p:extLst>
      <p:ext uri="{BB962C8B-B14F-4D97-AF65-F5344CB8AC3E}">
        <p14:creationId xmlns:p14="http://schemas.microsoft.com/office/powerpoint/2010/main" val="189557498"/>
      </p:ext>
    </p:extLst>
  </p:cSld>
</p:sld>
</file>

<file path=ppt/slides/slide22.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B52BEA-3D5B-48A4-A14B-50086C1BE7C0}"/>
              </a:ext>
            </a:extLst>
          </p:cNvPr>
          <p:cNvSpPr>
            <a:spLocks xmlns:a="http://schemas.openxmlformats.org/drawingml/2006/main" noGrp="1"/>
          </p:cNvSpPr>
          <p:nvPr/>
        </p:nvSpPr>
        <p:spPr>
          <a:xfrm xmlns:a="http://schemas.openxmlformats.org/drawingml/2006/main">
            <a:off x="723900" y="4953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1616"/>
                </a:solidFill>
                <a:latin typeface="Georgia"/>
                <a:ea typeface="Georgia"/>
                <a:cs typeface="Georgia"/>
              </a:defRPr>
            </a:pPr>
            <a:r>
              <a:rPr sz="3225" b="1">
                <a:solidFill>
                  <a:srgbClr val="161616"/>
                </a:solidFill>
                <a:latin typeface="Georgia"/>
                <a:ea typeface="Georgia"/>
                <a:cs typeface="Georgia"/>
              </a:rPr>
              <a:t>Chapter 7: answers with explanations</a:t>
            </a:r>
          </a:p>
        </p:txBody>
      </p:sp>
      <p:sp>
        <p:nvSpPr>
          <p:cNvPr id="2" name="">
            <a:extLst xmlns:a="http://schemas.openxmlformats.org/drawingml/2006/main">
              <a:ext uri="{FF2B5EF4-FFF2-40B4-BE49-F238E27FC236}">
                <a16:creationId xmlns:a16="http://schemas.microsoft.com/office/drawing/2014/main" id="{85559E99-9A57-4A2F-8078-A98FEE97FE80}"/>
              </a:ext>
            </a:extLst>
          </p:cNvPr>
          <p:cNvSpPr>
            <a:spLocks xmlns:a="http://schemas.openxmlformats.org/drawingml/2006/main" noGrp="1"/>
          </p:cNvSpPr>
          <p:nvPr/>
        </p:nvSpPr>
        <p:spPr>
          <a:xfrm xmlns:a="http://schemas.openxmlformats.org/drawingml/2006/main">
            <a:off x="723900" y="176212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1. Pre-Anaphora and Anaphora. Catechumens are people preparing for baptism, who historically stayed for the first part and left before the Eucharistic offering.</a:t>
            </a:r>
          </a:p>
        </p:txBody>
      </p:sp>
      <p:sp>
        <p:nvSpPr>
          <p:cNvPr id="3" name="">
            <a:extLst xmlns:a="http://schemas.openxmlformats.org/drawingml/2006/main">
              <a:ext uri="{FF2B5EF4-FFF2-40B4-BE49-F238E27FC236}">
                <a16:creationId xmlns:a16="http://schemas.microsoft.com/office/drawing/2014/main" id="{AC026DCF-7C8D-4C92-AAF2-004CB86EE8FC}"/>
              </a:ext>
            </a:extLst>
          </p:cNvPr>
          <p:cNvSpPr>
            <a:spLocks xmlns:a="http://schemas.openxmlformats.org/drawingml/2006/main" noGrp="1"/>
          </p:cNvSpPr>
          <p:nvPr/>
        </p:nvSpPr>
        <p:spPr>
          <a:xfrm xmlns:a="http://schemas.openxmlformats.org/drawingml/2006/main">
            <a:off x="723900" y="3200400"/>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2. The candle bearer represents John the Baptist preparing the way for Christ. The Kiss of Peace calls us to share God’s peace and seek sincere reconciliation.</a:t>
            </a:r>
          </a:p>
        </p:txBody>
      </p:sp>
      <p:sp>
        <p:nvSpPr>
          <p:cNvPr id="4" name="">
            <a:extLst xmlns:a="http://schemas.openxmlformats.org/drawingml/2006/main">
              <a:ext uri="{FF2B5EF4-FFF2-40B4-BE49-F238E27FC236}">
                <a16:creationId xmlns:a16="http://schemas.microsoft.com/office/drawing/2014/main" id="{210D55FE-1B47-418D-8E18-716AD3440CB5}"/>
              </a:ext>
            </a:extLst>
          </p:cNvPr>
          <p:cNvSpPr>
            <a:spLocks xmlns:a="http://schemas.openxmlformats.org/drawingml/2006/main" noGrp="1"/>
          </p:cNvSpPr>
          <p:nvPr/>
        </p:nvSpPr>
        <p:spPr>
          <a:xfrm xmlns:a="http://schemas.openxmlformats.org/drawingml/2006/main">
            <a:off x="723900" y="4638675"/>
            <a:ext cx="10744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2421"/>
                </a:solidFill>
                <a:latin typeface="Georgia"/>
                <a:ea typeface="Georgia"/>
                <a:cs typeface="Georgia"/>
              </a:defRPr>
            </a:pPr>
            <a:r>
              <a:rPr sz="1950" b="0">
                <a:solidFill>
                  <a:srgbClr val="252421"/>
                </a:solidFill>
                <a:latin typeface="Georgia"/>
                <a:ea typeface="Georgia"/>
                <a:cs typeface="Georgia"/>
              </a:rPr>
              <a:t>3. The Epiclesis invokes the Holy Spirit. The Diptychs remember living people, the saints, and the faithful departed, expressing the communion of the whole Church.</a:t>
            </a:r>
          </a:p>
        </p:txBody>
      </p:sp>
      <p:sp>
        <p:nvSpPr>
          <p:cNvPr id="5" name="">
            <a:extLst xmlns:a="http://schemas.openxmlformats.org/drawingml/2006/main">
              <a:ext uri="{FF2B5EF4-FFF2-40B4-BE49-F238E27FC236}">
                <a16:creationId xmlns:a16="http://schemas.microsoft.com/office/drawing/2014/main" id="{C5B25AAD-FE3A-4770-9155-DB65744BB7BA}"/>
              </a:ext>
            </a:extLst>
          </p:cNvPr>
          <p:cNvSpPr>
            <a:spLocks xmlns:a="http://schemas.openxmlformats.org/drawingml/2006/main" noGrp="1"/>
          </p:cNvSpPr>
          <p:nvPr/>
        </p:nvSpPr>
        <p:spPr>
          <a:xfrm xmlns:a="http://schemas.openxmlformats.org/drawingml/2006/main">
            <a:off x="723900" y="64198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Talmido Chapter 7  /  pp. 39–45</a:t>
            </a:r>
          </a:p>
        </p:txBody>
      </p:sp>
      <p:sp>
        <p:nvSpPr>
          <p:cNvPr id="6" name="">
            <a:extLst xmlns:a="http://schemas.openxmlformats.org/drawingml/2006/main">
              <a:ext uri="{FF2B5EF4-FFF2-40B4-BE49-F238E27FC236}">
                <a16:creationId xmlns:a16="http://schemas.microsoft.com/office/drawing/2014/main" id="{7A0DB6DD-CD8D-48C3-A31E-0C9DEBAE93A7}"/>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6256"/>
                </a:solidFill>
                <a:latin typeface="Georgia"/>
                <a:ea typeface="Georgia"/>
                <a:cs typeface="Georgia"/>
              </a:defRPr>
            </a:pPr>
            <a:r>
              <a:rPr sz="1275" b="0">
                <a:solidFill>
                  <a:srgbClr val="6B6256"/>
                </a:solidFill>
                <a:latin typeface="Georgia"/>
                <a:ea typeface="Georgia"/>
                <a:cs typeface="Georgia"/>
              </a:rPr>
              <a:t>22</a:t>
            </a:r>
          </a:p>
        </p:txBody>
      </p:sp>
    </p:spTree>
    <p:extLst>
      <p:ext uri="{BB962C8B-B14F-4D97-AF65-F5344CB8AC3E}">
        <p14:creationId xmlns:p14="http://schemas.microsoft.com/office/powerpoint/2010/main" val="5183042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2026-10-07T19:50:05.2090000Z</dcterms:created>
  <dcterms:modified xsi:type="dcterms:W3CDTF">2026-10-07T19:50:05.2090000Z</dcterms:modified>
</coreProperties>
</file>