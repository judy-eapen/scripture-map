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74f3a2ddb742f2" /><Relationship Type="http://schemas.openxmlformats.org/officeDocument/2006/relationships/extended-properties" Target="/docProps/app.xml" Id="Rb3b066ea041047d4" /><Relationship Type="http://schemas.openxmlformats.org/officeDocument/2006/relationships/officeDocument" Target="/ppt/presentation.xml" Id="Rbf2e4cefd6064e42" /></Relationships>
</file>

<file path=ppt/presentation.xml><?xml version="1.0" encoding="utf-8"?>
<p:presentation xmlns:p="http://schemas.openxmlformats.org/presentationml/2006/main">
  <p:sldMasterIdLst>
    <p:sldMasterId xmlns:r="http://schemas.openxmlformats.org/officeDocument/2006/relationships" id="2147483648" r:id="R42c90bf545b44763"/>
  </p:sldMasterIdLst>
  <p:notesMasterIdLst>
    <p:notesMasterId xmlns:r="http://schemas.openxmlformats.org/officeDocument/2006/relationships" r:id="R30c63bdb6f044c0e"/>
  </p:notesMasterIdLst>
  <p:sldIdLst>
    <p:sldId xmlns:r="http://schemas.openxmlformats.org/officeDocument/2006/relationships" id="256" r:id="Rb07776c18c694a97"/>
    <p:sldId xmlns:r="http://schemas.openxmlformats.org/officeDocument/2006/relationships" id="257" r:id="R8452e379974a4bd4"/>
    <p:sldId xmlns:r="http://schemas.openxmlformats.org/officeDocument/2006/relationships" id="258" r:id="Rdfb69b5af6c9465b"/>
    <p:sldId xmlns:r="http://schemas.openxmlformats.org/officeDocument/2006/relationships" id="259" r:id="R666e6e3d29f2459f"/>
    <p:sldId xmlns:r="http://schemas.openxmlformats.org/officeDocument/2006/relationships" id="260" r:id="R5e22744bff424f67"/>
    <p:sldId xmlns:r="http://schemas.openxmlformats.org/officeDocument/2006/relationships" id="261" r:id="R025e4a78ab5449b8"/>
    <p:sldId xmlns:r="http://schemas.openxmlformats.org/officeDocument/2006/relationships" id="262" r:id="Rce924f8337984a91"/>
    <p:sldId xmlns:r="http://schemas.openxmlformats.org/officeDocument/2006/relationships" id="263" r:id="Rcd7cbc099bb24b7e"/>
    <p:sldId xmlns:r="http://schemas.openxmlformats.org/officeDocument/2006/relationships" id="264" r:id="Rddf62b1fa96a473b"/>
    <p:sldId xmlns:r="http://schemas.openxmlformats.org/officeDocument/2006/relationships" id="265" r:id="Rbefef60e513b49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f4adaf33294910" /><Relationship Type="http://schemas.openxmlformats.org/officeDocument/2006/relationships/slideMaster" Target="/ppt/slideMasters/slideMaster1.xml" Id="R42c90bf545b44763" /><Relationship Type="http://schemas.openxmlformats.org/officeDocument/2006/relationships/notesMaster" Target="/ppt/notesMasters/notesMaster1.xml" Id="R30c63bdb6f044c0e" /><Relationship Type="http://schemas.openxmlformats.org/officeDocument/2006/relationships/presProps" Target="/ppt/presProps.xml" Id="R837aae3800fc4e6f" /><Relationship Type="http://schemas.openxmlformats.org/officeDocument/2006/relationships/tableStyles" Target="/ppt/tableStyles.xml" Id="Rcf02f64125004244" /><Relationship Type="http://schemas.openxmlformats.org/officeDocument/2006/relationships/slide" Target="/ppt/slides/slide1.xml" Id="Rb07776c18c694a97" /><Relationship Type="http://schemas.openxmlformats.org/officeDocument/2006/relationships/slide" Target="/ppt/slides/slide2.xml" Id="R8452e379974a4bd4" /><Relationship Type="http://schemas.openxmlformats.org/officeDocument/2006/relationships/slide" Target="/ppt/slides/slide3.xml" Id="Rdfb69b5af6c9465b" /><Relationship Type="http://schemas.openxmlformats.org/officeDocument/2006/relationships/slide" Target="/ppt/slides/slide4.xml" Id="R666e6e3d29f2459f" /><Relationship Type="http://schemas.openxmlformats.org/officeDocument/2006/relationships/slide" Target="/ppt/slides/slide5.xml" Id="R5e22744bff424f67" /><Relationship Type="http://schemas.openxmlformats.org/officeDocument/2006/relationships/slide" Target="/ppt/slides/slide6.xml" Id="R025e4a78ab5449b8" /><Relationship Type="http://schemas.openxmlformats.org/officeDocument/2006/relationships/slide" Target="/ppt/slides/slide7.xml" Id="Rce924f8337984a91" /><Relationship Type="http://schemas.openxmlformats.org/officeDocument/2006/relationships/slide" Target="/ppt/slides/slide8.xml" Id="Rcd7cbc099bb24b7e" /><Relationship Type="http://schemas.openxmlformats.org/officeDocument/2006/relationships/slide" Target="/ppt/slides/slide9.xml" Id="Rddf62b1fa96a473b" /><Relationship Type="http://schemas.openxmlformats.org/officeDocument/2006/relationships/slide" Target="/ppt/slides/slide10.xml" Id="Rbefef60e513b49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b25b799df74d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3b67bc58445b9" /><Relationship Type="http://schemas.openxmlformats.org/officeDocument/2006/relationships/notesMaster" Target="/ppt/notesMasters/notesMaster1.xml" Id="R20f3e8e98a7e41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3be79b3ccb4c77" /><Relationship Type="http://schemas.openxmlformats.org/officeDocument/2006/relationships/notesMaster" Target="/ppt/notesMasters/notesMaster1.xml" Id="R6da561a254ff44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2d2aa0d6724c40" /><Relationship Type="http://schemas.openxmlformats.org/officeDocument/2006/relationships/notesMaster" Target="/ppt/notesMasters/notesMaster1.xml" Id="R0aa7fa7ab2824a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1d38a5c7434821" /><Relationship Type="http://schemas.openxmlformats.org/officeDocument/2006/relationships/notesMaster" Target="/ppt/notesMasters/notesMaster1.xml" Id="R50f5ee8ef9c140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60b67142014369" /><Relationship Type="http://schemas.openxmlformats.org/officeDocument/2006/relationships/notesMaster" Target="/ppt/notesMasters/notesMaster1.xml" Id="Rc79989ca1cbe42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c3ad7f6225489b" /><Relationship Type="http://schemas.openxmlformats.org/officeDocument/2006/relationships/notesMaster" Target="/ppt/notesMasters/notesMaster1.xml" Id="Rf8cfc2edd98942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cae66433024fa0" /><Relationship Type="http://schemas.openxmlformats.org/officeDocument/2006/relationships/notesMaster" Target="/ppt/notesMasters/notesMaster1.xml" Id="R6b73355ba1f14a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e6c00afac14447" /><Relationship Type="http://schemas.openxmlformats.org/officeDocument/2006/relationships/notesMaster" Target="/ppt/notesMasters/notesMaster1.xml" Id="R3fadcd457d4a4a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ebd5d68a2c4f46" /><Relationship Type="http://schemas.openxmlformats.org/officeDocument/2006/relationships/notesMaster" Target="/ppt/notesMasters/notesMaster1.xml" Id="R046ac35182294a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1d8a9df39b45cf" /><Relationship Type="http://schemas.openxmlformats.org/officeDocument/2006/relationships/notesMaster" Target="/ppt/notesMasters/notesMaster1.xml" Id="R013981f705a045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10–12 minutes. Ask: Who helps people know God in our parish? Accept several ministries, then introduce the particular role of ordained priests.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34–37.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Jesus offered Himself willingly on the Cross for our sins. His sacrifice restores communion with God. Introduce priest as someone set apart to serve God and His people. Connect service to John 21:15–17: the risen Jesus calls Peter to care for His flock.</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 34.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God instructed Moses to anoint Aaron. After Aaron, his son Eleazar became high priest. The lesson describes priesthood continuing through this lineage and within the tribe of Levi. Priests offered sacrifices, taught the law, maintained the sanctuary, and interceded for people. Intercede means pray on someone else’s behalf.</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34–35.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Melchizedek was king of Salem and priest of God Most High. He offered bread and wine and blessed Abraham. The curriculum connects him with Christ’s everlasting priesthood. References: Genesis 14:18–20, Hebrews 7:2–3 and Psalm 109:1–4 using OSB numbering. Ask students to notice bread and wine in the supplied icon. Image source: icon reproduced on printed page 35 of the user-supplied curriculum.</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 35.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Christ entrusted His priestly work to the Apostles. The lesson describes the Holy Spirit’s guidance and laying on of hands for ordination. Bishops, priests, and deacons have particular ministries. Explain the priest’s role in the Eucharist without equating the human priest with Christ: Christ Himself acts through the priest. The Kukiliyon remembers priesthood and the Apostles spreading it throughout creation.</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35–36.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1 Peter 2:9 from the Orthodox Study Bible if available. The lesson describes all the faithful as a royal priesthood with responsibilities in creation. The general calling belongs to men and women. Explain that this shared calling supports, but does not erase, the distinct calling of ordained ministers.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36–37.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comparison to check the main lesson goal. All Christians serve God; ordained ministers have a particular ministry through ordination. Both belong to the life of the Church. Ask: How might a student support the parish’s ministry? Possible examples: pray, help, welcome someone, care for creation. These are teaching applications, not quoted textbook examples.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34–37.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1 minute. This classroom scenario applies the lesson’s call to service; it is newly written, not a textbook event. Possible answers: introduce yourself, invite the student to sit with you, explain where to find the lesson, or include them in an activity. Do not ask students to disclose private experiences.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36–37.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students to answer before moving to the final slide. Q1 is recall; Q2 checks the Christ-centered meaning of priesthood; Q3 checks the distinction between the general and particular call. These are newly written curriculum-based questions.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34–37.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1 Aaron. 2 Jesus offered Himself as the perfect sacrifice on the Cross and reunited us with God. 3 No. All Christians share a calling to serve God and care for His creation; ordained ministers have particular responsibilities. Accept equivalent meaning. Exit prompt: ask each student to name one concrete act of service.</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6th Grade AY2026 (1).pdf. Printed pp. 34–37. Scripture references follow the curriculum; explanatory wording is paraphrased.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4da7826aa44b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3cfa3d8f8644ba" /><Relationship Type="http://schemas.openxmlformats.org/officeDocument/2006/relationships/slideLayout" Target="/ppt/slideLayouts/slideLayout1.xml" Id="Rbc46e9ea7d174e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46e9ea7d174e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0139258ac0429a" /><Relationship Type="http://schemas.openxmlformats.org/officeDocument/2006/relationships/notesSlide" Target="/ppt/notesSlides/notesSlide1.xml" Id="R57350a7e926c42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8c59d384294b9c" /><Relationship Type="http://schemas.openxmlformats.org/officeDocument/2006/relationships/notesSlide" Target="/ppt/notesSlides/notesSlide2.xml" Id="Rabc96f62a29b45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0ab1397cf8437f" /><Relationship Type="http://schemas.openxmlformats.org/officeDocument/2006/relationships/notesSlide" Target="/ppt/notesSlides/notesSlide3.xml" Id="Rf445fe15aed6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15c7be8d7940d5" /><Relationship Type="http://schemas.openxmlformats.org/officeDocument/2006/relationships/image" Target="/ppt/media/image.png" Id="R94408c55543344c4" /><Relationship Type="http://schemas.openxmlformats.org/officeDocument/2006/relationships/notesSlide" Target="/ppt/notesSlides/notesSlide4.xml" Id="Rbe5c25d96c3d40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ad319b312b40c7" /><Relationship Type="http://schemas.openxmlformats.org/officeDocument/2006/relationships/notesSlide" Target="/ppt/notesSlides/notesSlide5.xml" Id="R4b9d6e0b49c2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26ed551f3f46b1" /><Relationship Type="http://schemas.openxmlformats.org/officeDocument/2006/relationships/notesSlide" Target="/ppt/notesSlides/notesSlide6.xml" Id="R59e20872085a44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b776f600e24dba" /><Relationship Type="http://schemas.openxmlformats.org/officeDocument/2006/relationships/notesSlide" Target="/ppt/notesSlides/notesSlide7.xml" Id="Ra5f8c083abb048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906a1e4e874dfa" /><Relationship Type="http://schemas.openxmlformats.org/officeDocument/2006/relationships/notesSlide" Target="/ppt/notesSlides/notesSlide8.xml" Id="Re5ecef142d0b4e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ce84c637f84f0d" /><Relationship Type="http://schemas.openxmlformats.org/officeDocument/2006/relationships/notesSlide" Target="/ppt/notesSlides/notesSlide9.xml" Id="R0a3b40cb463344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8b9f1c67b64bbe" /><Relationship Type="http://schemas.openxmlformats.org/officeDocument/2006/relationships/notesSlide" Target="/ppt/notesSlides/notesSlide10.xml" Id="R6af4316cdea74a3e" /></Relationships>
</file>

<file path=ppt/slides/slide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74C60D-C4E9-4B18-B325-0E199DC82A2F}"/>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Holy Priesthood</a:t>
            </a:r>
          </a:p>
        </p:txBody>
      </p:sp>
      <p:sp>
        <p:nvSpPr>
          <p:cNvPr id="2" name="">
            <a:extLst xmlns:a="http://schemas.openxmlformats.org/drawingml/2006/main">
              <a:ext uri="{FF2B5EF4-FFF2-40B4-BE49-F238E27FC236}">
                <a16:creationId xmlns:a16="http://schemas.microsoft.com/office/drawing/2014/main" id="{7FD3CF9E-D74E-4DE8-9558-9F4CEB6F9B1B}"/>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34–37</a:t>
            </a:r>
          </a:p>
        </p:txBody>
      </p:sp>
      <p:sp>
        <p:nvSpPr>
          <p:cNvPr id="3" name="">
            <a:extLst xmlns:a="http://schemas.openxmlformats.org/drawingml/2006/main">
              <a:ext uri="{FF2B5EF4-FFF2-40B4-BE49-F238E27FC236}">
                <a16:creationId xmlns:a16="http://schemas.microsoft.com/office/drawing/2014/main" id="{F986FEB0-85C8-4F38-AAC2-79EF3BF74B71}"/>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B6096B85-7743-4C5A-BFC3-D860F2491DB3}"/>
              </a:ext>
            </a:extLst>
          </p:cNvPr>
          <p:cNvSpPr>
            <a:spLocks xmlns:a="http://schemas.openxmlformats.org/drawingml/2006/main" noGrp="1"/>
          </p:cNvSpPr>
          <p:nvPr/>
        </p:nvSpPr>
        <p:spPr>
          <a:xfrm xmlns:a="http://schemas.openxmlformats.org/drawingml/2006/main">
            <a:off x="685800" y="22383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E8C66C"/>
                </a:solidFill>
                <a:latin typeface="Helvetica Neue"/>
                <a:ea typeface="Helvetica Neue"/>
                <a:cs typeface="Helvetica Neue"/>
              </a:defRPr>
            </a:pPr>
            <a:r>
              <a:rPr sz="1725" b="1">
                <a:solidFill>
                  <a:srgbClr val="E8C66C"/>
                </a:solidFill>
                <a:latin typeface="Helvetica Neue"/>
                <a:ea typeface="Helvetica Neue"/>
                <a:cs typeface="Helvetica Neue"/>
              </a:rPr>
              <a:t>TALMIDO  /  CHAPTER 6</a:t>
            </a:r>
          </a:p>
        </p:txBody>
      </p:sp>
      <p:sp>
        <p:nvSpPr>
          <p:cNvPr id="5" name="">
            <a:extLst xmlns:a="http://schemas.openxmlformats.org/drawingml/2006/main">
              <a:ext uri="{FF2B5EF4-FFF2-40B4-BE49-F238E27FC236}">
                <a16:creationId xmlns:a16="http://schemas.microsoft.com/office/drawing/2014/main" id="{A04BCA94-33A8-4A9B-96E2-C1A94A00B096}"/>
              </a:ext>
            </a:extLst>
          </p:cNvPr>
          <p:cNvSpPr>
            <a:spLocks xmlns:a="http://schemas.openxmlformats.org/drawingml/2006/main" noGrp="1"/>
          </p:cNvSpPr>
          <p:nvPr/>
        </p:nvSpPr>
        <p:spPr>
          <a:xfrm xmlns:a="http://schemas.openxmlformats.org/drawingml/2006/main">
            <a:off x="685800" y="30956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5F0E5"/>
                </a:solidFill>
                <a:latin typeface="Helvetica Neue"/>
                <a:ea typeface="Helvetica Neue"/>
                <a:cs typeface="Helvetica Neue"/>
              </a:defRPr>
            </a:pPr>
            <a:r>
              <a:rPr sz="4200" b="0">
                <a:solidFill>
                  <a:srgbClr val="F5F0E5"/>
                </a:solidFill>
                <a:latin typeface="Helvetica Neue"/>
                <a:ea typeface="Helvetica Neue"/>
                <a:cs typeface="Helvetica Neue"/>
              </a:rPr>
              <a:t>Christ our High Priest</a:t>
            </a:r>
          </a:p>
          <a:p xmlns:a="http://schemas.openxmlformats.org/drawingml/2006/main">
            <a:pPr>
              <a:defRPr sz="4200" b="0">
                <a:solidFill>
                  <a:srgbClr val="F5F0E5"/>
                </a:solidFill>
                <a:latin typeface="Helvetica Neue"/>
                <a:ea typeface="Helvetica Neue"/>
                <a:cs typeface="Helvetica Neue"/>
              </a:defRPr>
            </a:pPr>
            <a:r>
              <a:rPr sz="4200" b="0">
                <a:solidFill>
                  <a:srgbClr val="F5F0E5"/>
                </a:solidFill>
                <a:latin typeface="Helvetica Neue"/>
                <a:ea typeface="Helvetica Neue"/>
                <a:cs typeface="Helvetica Neue"/>
              </a:rPr>
              <a:t>and our call to serve</a:t>
            </a:r>
          </a:p>
        </p:txBody>
      </p:sp>
      <p:sp>
        <p:nvSpPr>
          <p:cNvPr id="6" name="">
            <a:extLst xmlns:a="http://schemas.openxmlformats.org/drawingml/2006/main">
              <a:ext uri="{FF2B5EF4-FFF2-40B4-BE49-F238E27FC236}">
                <a16:creationId xmlns:a16="http://schemas.microsoft.com/office/drawing/2014/main" id="{1023B657-2426-405A-B94F-C2CC4FBF1040}"/>
              </a:ext>
            </a:extLst>
          </p:cNvPr>
          <p:cNvSpPr>
            <a:spLocks xmlns:a="http://schemas.openxmlformats.org/drawingml/2006/main" noGrp="1"/>
          </p:cNvSpPr>
          <p:nvPr/>
        </p:nvSpPr>
        <p:spPr>
          <a:xfrm xmlns:a="http://schemas.openxmlformats.org/drawingml/2006/main">
            <a:off x="685800" y="5191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7C5D8"/>
                </a:solidFill>
                <a:latin typeface="Helvetica Neue"/>
                <a:ea typeface="Helvetica Neue"/>
                <a:cs typeface="Helvetica Neue"/>
              </a:defRPr>
            </a:pPr>
            <a:r>
              <a:rPr sz="2025" b="0">
                <a:solidFill>
                  <a:srgbClr val="B7C5D8"/>
                </a:solidFill>
                <a:latin typeface="Helvetica Neue"/>
                <a:ea typeface="Helvetica Neue"/>
                <a:cs typeface="Helvetica Neue"/>
              </a:rPr>
              <a:t>Sixth-grade Sunday school</a:t>
            </a:r>
          </a:p>
        </p:txBody>
      </p:sp>
    </p:spTree>
    <p:extLst>
      <p:ext uri="{BB962C8B-B14F-4D97-AF65-F5344CB8AC3E}">
        <p14:creationId xmlns:p14="http://schemas.microsoft.com/office/powerpoint/2010/main" val="345864879"/>
      </p:ext>
    </p:extLst>
  </p:cSld>
</p:sld>
</file>

<file path=ppt/slides/slide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6E8FB0-6D4A-4B5E-BC6A-66DEE96B09FA}"/>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Christ our High Priest</a:t>
            </a:r>
          </a:p>
        </p:txBody>
      </p:sp>
      <p:sp>
        <p:nvSpPr>
          <p:cNvPr id="2" name="">
            <a:extLst xmlns:a="http://schemas.openxmlformats.org/drawingml/2006/main">
              <a:ext uri="{FF2B5EF4-FFF2-40B4-BE49-F238E27FC236}">
                <a16:creationId xmlns:a16="http://schemas.microsoft.com/office/drawing/2014/main" id="{8F3EEB5B-B559-464F-B121-749CFE816497}"/>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 34</a:t>
            </a:r>
          </a:p>
        </p:txBody>
      </p:sp>
      <p:sp>
        <p:nvSpPr>
          <p:cNvPr id="3" name="">
            <a:extLst xmlns:a="http://schemas.openxmlformats.org/drawingml/2006/main">
              <a:ext uri="{FF2B5EF4-FFF2-40B4-BE49-F238E27FC236}">
                <a16:creationId xmlns:a16="http://schemas.microsoft.com/office/drawing/2014/main" id="{6DA71F57-C933-46EF-8F13-ABE8510E7B98}"/>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AD73D04F-7D36-41A1-9869-640BA65E9E34}"/>
              </a:ext>
            </a:extLst>
          </p:cNvPr>
          <p:cNvSpPr>
            <a:spLocks xmlns:a="http://schemas.openxmlformats.org/drawingml/2006/main" noGrp="1"/>
          </p:cNvSpPr>
          <p:nvPr/>
        </p:nvSpPr>
        <p:spPr>
          <a:xfrm xmlns:a="http://schemas.openxmlformats.org/drawingml/2006/main">
            <a:off x="685800" y="195262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5F0E5"/>
                </a:solidFill>
                <a:latin typeface="Helvetica Neue"/>
                <a:ea typeface="Helvetica Neue"/>
                <a:cs typeface="Helvetica Neue"/>
              </a:defRPr>
            </a:pPr>
            <a:r>
              <a:rPr sz="3300" b="0">
                <a:solidFill>
                  <a:srgbClr val="F5F0E5"/>
                </a:solidFill>
                <a:latin typeface="Helvetica Neue"/>
                <a:ea typeface="Helvetica Neue"/>
                <a:cs typeface="Helvetica Neue"/>
              </a:rPr>
              <a:t>Jesus offered Himself on the Cross</a:t>
            </a:r>
          </a:p>
          <a:p xmlns:a="http://schemas.openxmlformats.org/drawingml/2006/main">
            <a:pPr>
              <a:defRPr sz="3300" b="0">
                <a:solidFill>
                  <a:srgbClr val="F5F0E5"/>
                </a:solidFill>
                <a:latin typeface="Helvetica Neue"/>
                <a:ea typeface="Helvetica Neue"/>
                <a:cs typeface="Helvetica Neue"/>
              </a:defRPr>
            </a:pPr>
            <a:r>
              <a:rPr sz="3300" b="0">
                <a:solidFill>
                  <a:srgbClr val="F5F0E5"/>
                </a:solidFill>
                <a:latin typeface="Helvetica Neue"/>
                <a:ea typeface="Helvetica Neue"/>
                <a:cs typeface="Helvetica Neue"/>
              </a:rPr>
              <a:t>to reunite us with God.</a:t>
            </a:r>
          </a:p>
        </p:txBody>
      </p:sp>
      <p:sp>
        <p:nvSpPr>
          <p:cNvPr id="5" name="">
            <a:extLst xmlns:a="http://schemas.openxmlformats.org/drawingml/2006/main">
              <a:ext uri="{FF2B5EF4-FFF2-40B4-BE49-F238E27FC236}">
                <a16:creationId xmlns:a16="http://schemas.microsoft.com/office/drawing/2014/main" id="{2AABC81A-7F24-4B75-B072-4626EF815A75}"/>
              </a:ext>
            </a:extLst>
          </p:cNvPr>
          <p:cNvSpPr>
            <a:spLocks xmlns:a="http://schemas.openxmlformats.org/drawingml/2006/main" noGrp="1"/>
          </p:cNvSpPr>
          <p:nvPr/>
        </p:nvSpPr>
        <p:spPr>
          <a:xfrm xmlns:a="http://schemas.openxmlformats.org/drawingml/2006/main">
            <a:off x="685800" y="39528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After His Resurrection, Jesus asked Peter</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to care for His people.</a:t>
            </a:r>
          </a:p>
        </p:txBody>
      </p:sp>
      <p:sp>
        <p:nvSpPr>
          <p:cNvPr id="6" name="">
            <a:extLst xmlns:a="http://schemas.openxmlformats.org/drawingml/2006/main">
              <a:ext uri="{FF2B5EF4-FFF2-40B4-BE49-F238E27FC236}">
                <a16:creationId xmlns:a16="http://schemas.microsoft.com/office/drawing/2014/main" id="{5EA55FD3-EC39-4B3B-A5B7-EA1A1A60A6D9}"/>
              </a:ext>
            </a:extLst>
          </p:cNvPr>
          <p:cNvSpPr>
            <a:spLocks xmlns:a="http://schemas.openxmlformats.org/drawingml/2006/main" noGrp="1"/>
          </p:cNvSpPr>
          <p:nvPr/>
        </p:nvSpPr>
        <p:spPr>
          <a:xfrm xmlns:a="http://schemas.openxmlformats.org/drawingml/2006/main">
            <a:off x="685800" y="5286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8C66C"/>
                </a:solidFill>
                <a:latin typeface="Helvetica Neue"/>
                <a:ea typeface="Helvetica Neue"/>
                <a:cs typeface="Helvetica Neue"/>
              </a:defRPr>
            </a:pPr>
            <a:r>
              <a:rPr sz="1800" b="0">
                <a:solidFill>
                  <a:srgbClr val="E8C66C"/>
                </a:solidFill>
                <a:latin typeface="Helvetica Neue"/>
                <a:ea typeface="Helvetica Neue"/>
                <a:cs typeface="Helvetica Neue"/>
              </a:rPr>
              <a:t>John 21:15–17</a:t>
            </a:r>
          </a:p>
        </p:txBody>
      </p:sp>
    </p:spTree>
    <p:extLst>
      <p:ext uri="{BB962C8B-B14F-4D97-AF65-F5344CB8AC3E}">
        <p14:creationId xmlns:p14="http://schemas.microsoft.com/office/powerpoint/2010/main" val="699309639"/>
      </p:ext>
    </p:extLst>
  </p:cSld>
</p:sld>
</file>

<file path=ppt/slides/slide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6308E9-D41B-4618-8E71-EA23DA4AF5B7}"/>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Priests in the Old Testament</a:t>
            </a:r>
          </a:p>
        </p:txBody>
      </p:sp>
      <p:sp>
        <p:nvSpPr>
          <p:cNvPr id="2" name="">
            <a:extLst xmlns:a="http://schemas.openxmlformats.org/drawingml/2006/main">
              <a:ext uri="{FF2B5EF4-FFF2-40B4-BE49-F238E27FC236}">
                <a16:creationId xmlns:a16="http://schemas.microsoft.com/office/drawing/2014/main" id="{1CFEB0E1-24AB-4199-9B5C-2E01B7D750D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34–35</a:t>
            </a:r>
          </a:p>
        </p:txBody>
      </p:sp>
      <p:sp>
        <p:nvSpPr>
          <p:cNvPr id="3" name="">
            <a:extLst xmlns:a="http://schemas.openxmlformats.org/drawingml/2006/main">
              <a:ext uri="{FF2B5EF4-FFF2-40B4-BE49-F238E27FC236}">
                <a16:creationId xmlns:a16="http://schemas.microsoft.com/office/drawing/2014/main" id="{1779BAB4-656F-49EC-B307-85C63775B05A}"/>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163FF55F-75DD-4C1B-871C-4BF55BDC1771}"/>
              </a:ext>
            </a:extLst>
          </p:cNvPr>
          <p:cNvSpPr>
            <a:spLocks xmlns:a="http://schemas.openxmlformats.org/drawingml/2006/main" noGrp="1"/>
          </p:cNvSpPr>
          <p:nvPr/>
        </p:nvSpPr>
        <p:spPr>
          <a:xfrm xmlns:a="http://schemas.openxmlformats.org/drawingml/2006/main">
            <a:off x="685800" y="19526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E8C66C"/>
                </a:solidFill>
                <a:latin typeface="Helvetica Neue"/>
                <a:ea typeface="Helvetica Neue"/>
                <a:cs typeface="Helvetica Neue"/>
              </a:defRPr>
            </a:pPr>
            <a:r>
              <a:rPr sz="4125" b="1">
                <a:solidFill>
                  <a:srgbClr val="E8C66C"/>
                </a:solidFill>
                <a:latin typeface="Helvetica Neue"/>
                <a:ea typeface="Helvetica Neue"/>
                <a:cs typeface="Helvetica Neue"/>
              </a:rPr>
              <a:t>Aaron</a:t>
            </a:r>
          </a:p>
        </p:txBody>
      </p:sp>
      <p:sp>
        <p:nvSpPr>
          <p:cNvPr id="5" name="">
            <a:extLst xmlns:a="http://schemas.openxmlformats.org/drawingml/2006/main">
              <a:ext uri="{FF2B5EF4-FFF2-40B4-BE49-F238E27FC236}">
                <a16:creationId xmlns:a16="http://schemas.microsoft.com/office/drawing/2014/main" id="{1D89304E-3FDB-444C-8A0A-30E02890562E}"/>
              </a:ext>
            </a:extLst>
          </p:cNvPr>
          <p:cNvSpPr>
            <a:spLocks xmlns:a="http://schemas.openxmlformats.org/drawingml/2006/main" noGrp="1"/>
          </p:cNvSpPr>
          <p:nvPr/>
        </p:nvSpPr>
        <p:spPr>
          <a:xfrm xmlns:a="http://schemas.openxmlformats.org/drawingml/2006/main">
            <a:off x="685800" y="28575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God called Aaron to serve</a:t>
            </a:r>
          </a:p>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as high priest.</a:t>
            </a:r>
          </a:p>
        </p:txBody>
      </p:sp>
      <p:sp>
        <p:nvSpPr>
          <p:cNvPr id="6" name="">
            <a:extLst xmlns:a="http://schemas.openxmlformats.org/drawingml/2006/main">
              <a:ext uri="{FF2B5EF4-FFF2-40B4-BE49-F238E27FC236}">
                <a16:creationId xmlns:a16="http://schemas.microsoft.com/office/drawing/2014/main" id="{15EB9940-E79D-4FB9-A6FD-4A6D7244036F}"/>
              </a:ext>
            </a:extLst>
          </p:cNvPr>
          <p:cNvSpPr>
            <a:spLocks xmlns:a="http://schemas.openxmlformats.org/drawingml/2006/main" noGrp="1"/>
          </p:cNvSpPr>
          <p:nvPr/>
        </p:nvSpPr>
        <p:spPr>
          <a:xfrm xmlns:a="http://schemas.openxmlformats.org/drawingml/2006/main">
            <a:off x="6477000" y="19526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C66C"/>
                </a:solidFill>
                <a:latin typeface="Helvetica Neue"/>
                <a:ea typeface="Helvetica Neue"/>
                <a:cs typeface="Helvetica Neue"/>
              </a:defRPr>
            </a:pPr>
            <a:r>
              <a:rPr sz="2550" b="1">
                <a:solidFill>
                  <a:srgbClr val="E8C66C"/>
                </a:solidFill>
                <a:latin typeface="Helvetica Neue"/>
                <a:ea typeface="Helvetica Neue"/>
                <a:cs typeface="Helvetica Neue"/>
              </a:rPr>
              <a:t>Set apart for service</a:t>
            </a:r>
          </a:p>
        </p:txBody>
      </p:sp>
      <p:sp>
        <p:nvSpPr>
          <p:cNvPr id="7" name="">
            <a:extLst xmlns:a="http://schemas.openxmlformats.org/drawingml/2006/main">
              <a:ext uri="{FF2B5EF4-FFF2-40B4-BE49-F238E27FC236}">
                <a16:creationId xmlns:a16="http://schemas.microsoft.com/office/drawing/2014/main" id="{7DD9C4D0-2EA4-4FA4-9F58-4CAFC8FEA427}"/>
              </a:ext>
            </a:extLst>
          </p:cNvPr>
          <p:cNvSpPr>
            <a:spLocks xmlns:a="http://schemas.openxmlformats.org/drawingml/2006/main" noGrp="1"/>
          </p:cNvSpPr>
          <p:nvPr/>
        </p:nvSpPr>
        <p:spPr>
          <a:xfrm xmlns:a="http://schemas.openxmlformats.org/drawingml/2006/main">
            <a:off x="6477000" y="285750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Priests offered sacrifices,</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taught God’s law, and prayed</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on behalf of the people.</a:t>
            </a:r>
          </a:p>
        </p:txBody>
      </p:sp>
      <p:sp>
        <p:nvSpPr>
          <p:cNvPr id="8" name="">
            <a:extLst xmlns:a="http://schemas.openxmlformats.org/drawingml/2006/main">
              <a:ext uri="{FF2B5EF4-FFF2-40B4-BE49-F238E27FC236}">
                <a16:creationId xmlns:a16="http://schemas.microsoft.com/office/drawing/2014/main" id="{31589A93-7960-439C-820A-FA35B5208940}"/>
              </a:ext>
            </a:extLst>
          </p:cNvPr>
          <p:cNvSpPr>
            <a:spLocks xmlns:a="http://schemas.openxmlformats.org/drawingml/2006/main" noGrp="1"/>
          </p:cNvSpPr>
          <p:nvPr/>
        </p:nvSpPr>
        <p:spPr>
          <a:xfrm xmlns:a="http://schemas.openxmlformats.org/drawingml/2006/main">
            <a:off x="685800" y="5286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Priesthood continued through Aaron’s family.</a:t>
            </a:r>
          </a:p>
        </p:txBody>
      </p:sp>
    </p:spTree>
    <p:extLst>
      <p:ext uri="{BB962C8B-B14F-4D97-AF65-F5344CB8AC3E}">
        <p14:creationId xmlns:p14="http://schemas.microsoft.com/office/powerpoint/2010/main" val="30593913"/>
      </p:ext>
    </p:extLst>
  </p:cSld>
</p:sld>
</file>

<file path=ppt/slides/slide4.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59E7B0-2A9D-40CE-AEF3-A9F4E9BC7BF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Melchizedek and Christ</a:t>
            </a:r>
          </a:p>
        </p:txBody>
      </p:sp>
      <p:sp>
        <p:nvSpPr>
          <p:cNvPr id="2" name="">
            <a:extLst xmlns:a="http://schemas.openxmlformats.org/drawingml/2006/main">
              <a:ext uri="{FF2B5EF4-FFF2-40B4-BE49-F238E27FC236}">
                <a16:creationId xmlns:a16="http://schemas.microsoft.com/office/drawing/2014/main" id="{53CC2B4E-AF96-4621-BB7C-26FBEF22A003}"/>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 35</a:t>
            </a:r>
          </a:p>
        </p:txBody>
      </p:sp>
      <p:sp>
        <p:nvSpPr>
          <p:cNvPr id="3" name="">
            <a:extLst xmlns:a="http://schemas.openxmlformats.org/drawingml/2006/main">
              <a:ext uri="{FF2B5EF4-FFF2-40B4-BE49-F238E27FC236}">
                <a16:creationId xmlns:a16="http://schemas.microsoft.com/office/drawing/2014/main" id="{F407F0CB-34BC-4933-8874-DA76D3412960}"/>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BCFB46F0-C637-4D04-BB81-4AA712DA3C3A}"/>
              </a:ext>
            </a:extLst>
          </p:cNvPr>
          <p:cNvSpPr>
            <a:spLocks xmlns:a="http://schemas.openxmlformats.org/drawingml/2006/main" noGrp="1"/>
          </p:cNvSpPr>
          <p:nvPr/>
        </p:nvSpPr>
        <p:spPr>
          <a:xfrm xmlns:a="http://schemas.openxmlformats.org/drawingml/2006/main">
            <a:off x="685800" y="1952625"/>
            <a:ext cx="5953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8C66C"/>
                </a:solidFill>
                <a:latin typeface="Helvetica Neue"/>
                <a:ea typeface="Helvetica Neue"/>
                <a:cs typeface="Helvetica Neue"/>
              </a:defRPr>
            </a:pPr>
            <a:r>
              <a:rPr sz="2850" b="1">
                <a:solidFill>
                  <a:srgbClr val="E8C66C"/>
                </a:solidFill>
                <a:latin typeface="Helvetica Neue"/>
                <a:ea typeface="Helvetica Neue"/>
                <a:cs typeface="Helvetica Neue"/>
              </a:rPr>
              <a:t>King of Salem</a:t>
            </a:r>
          </a:p>
          <a:p xmlns:a="http://schemas.openxmlformats.org/drawingml/2006/main">
            <a:pPr>
              <a:defRPr sz="2850" b="1">
                <a:solidFill>
                  <a:srgbClr val="E8C66C"/>
                </a:solidFill>
                <a:latin typeface="Helvetica Neue"/>
                <a:ea typeface="Helvetica Neue"/>
                <a:cs typeface="Helvetica Neue"/>
              </a:defRPr>
            </a:pPr>
            <a:r>
              <a:rPr sz="2850" b="1">
                <a:solidFill>
                  <a:srgbClr val="E8C66C"/>
                </a:solidFill>
                <a:latin typeface="Helvetica Neue"/>
                <a:ea typeface="Helvetica Neue"/>
                <a:cs typeface="Helvetica Neue"/>
              </a:rPr>
              <a:t>Priest of God Most High</a:t>
            </a:r>
          </a:p>
        </p:txBody>
      </p:sp>
      <p:sp>
        <p:nvSpPr>
          <p:cNvPr id="5" name="">
            <a:extLst xmlns:a="http://schemas.openxmlformats.org/drawingml/2006/main">
              <a:ext uri="{FF2B5EF4-FFF2-40B4-BE49-F238E27FC236}">
                <a16:creationId xmlns:a16="http://schemas.microsoft.com/office/drawing/2014/main" id="{11107892-7A77-4111-A5AA-51745EEDB7E8}"/>
              </a:ext>
            </a:extLst>
          </p:cNvPr>
          <p:cNvSpPr>
            <a:spLocks xmlns:a="http://schemas.openxmlformats.org/drawingml/2006/main" noGrp="1"/>
          </p:cNvSpPr>
          <p:nvPr/>
        </p:nvSpPr>
        <p:spPr>
          <a:xfrm xmlns:a="http://schemas.openxmlformats.org/drawingml/2006/main">
            <a:off x="685800" y="3476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He offered bread and wine</a:t>
            </a:r>
          </a:p>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and blessed Abraham.</a:t>
            </a:r>
          </a:p>
        </p:txBody>
      </p:sp>
      <p:sp>
        <p:nvSpPr>
          <p:cNvPr id="6" name="">
            <a:extLst xmlns:a="http://schemas.openxmlformats.org/drawingml/2006/main">
              <a:ext uri="{FF2B5EF4-FFF2-40B4-BE49-F238E27FC236}">
                <a16:creationId xmlns:a16="http://schemas.microsoft.com/office/drawing/2014/main" id="{0C7391F6-2EC8-4568-B8B7-162A868D8A00}"/>
              </a:ext>
            </a:extLst>
          </p:cNvPr>
          <p:cNvSpPr>
            <a:spLocks xmlns:a="http://schemas.openxmlformats.org/drawingml/2006/main" noGrp="1"/>
          </p:cNvSpPr>
          <p:nvPr/>
        </p:nvSpPr>
        <p:spPr>
          <a:xfrm xmlns:a="http://schemas.openxmlformats.org/drawingml/2006/main">
            <a:off x="685800" y="4905375"/>
            <a:ext cx="595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The lesson connects him with</a:t>
            </a:r>
          </a:p>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Christ’s everlasting priesthood.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4408c55543344c4"/>
          <a:stretch xmlns:a="http://schemas.openxmlformats.org/drawingml/2006/main"/>
        </p:blipFill>
        <p:spPr>
          <a:xfrm xmlns:a="http://schemas.openxmlformats.org/drawingml/2006/main">
            <a:off x="7143750" y="1953759"/>
            <a:ext cx="4095750" cy="3998232"/>
          </a:xfrm>
          <a:prstGeom xmlns:a="http://schemas.openxmlformats.org/drawingml/2006/main" prst="rect">
            <a:avLst/>
          </a:prstGeom>
        </p:spPr>
      </p:pic>
    </p:spTree>
    <p:extLst>
      <p:ext uri="{BB962C8B-B14F-4D97-AF65-F5344CB8AC3E}">
        <p14:creationId xmlns:p14="http://schemas.microsoft.com/office/powerpoint/2010/main" val="1401180663"/>
      </p:ext>
    </p:extLst>
  </p:cSld>
</p:sld>
</file>

<file path=ppt/slides/slide5.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A1DFB7-7143-47AC-B42D-7D2B25E4970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Ordained ministry in the Church</a:t>
            </a:r>
          </a:p>
        </p:txBody>
      </p:sp>
      <p:sp>
        <p:nvSpPr>
          <p:cNvPr id="2" name="">
            <a:extLst xmlns:a="http://schemas.openxmlformats.org/drawingml/2006/main">
              <a:ext uri="{FF2B5EF4-FFF2-40B4-BE49-F238E27FC236}">
                <a16:creationId xmlns:a16="http://schemas.microsoft.com/office/drawing/2014/main" id="{146802C1-1F64-4367-8571-EB74CFBA6A5D}"/>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35–36</a:t>
            </a:r>
          </a:p>
        </p:txBody>
      </p:sp>
      <p:sp>
        <p:nvSpPr>
          <p:cNvPr id="3" name="">
            <a:extLst xmlns:a="http://schemas.openxmlformats.org/drawingml/2006/main">
              <a:ext uri="{FF2B5EF4-FFF2-40B4-BE49-F238E27FC236}">
                <a16:creationId xmlns:a16="http://schemas.microsoft.com/office/drawing/2014/main" id="{E9C9E527-E189-4CFD-8D16-6E5BD805F165}"/>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9340D880-677C-4E4A-9181-8F54950F1D9B}"/>
              </a:ext>
            </a:extLst>
          </p:cNvPr>
          <p:cNvSpPr>
            <a:spLocks xmlns:a="http://schemas.openxmlformats.org/drawingml/2006/main" noGrp="1"/>
          </p:cNvSpPr>
          <p:nvPr/>
        </p:nvSpPr>
        <p:spPr>
          <a:xfrm xmlns:a="http://schemas.openxmlformats.org/drawingml/2006/main">
            <a:off x="685800" y="1952625"/>
            <a:ext cx="1038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5F0E5"/>
                </a:solidFill>
                <a:latin typeface="Helvetica Neue"/>
                <a:ea typeface="Helvetica Neue"/>
                <a:cs typeface="Helvetica Neue"/>
              </a:defRPr>
            </a:pPr>
            <a:r>
              <a:rPr sz="3300" b="0">
                <a:solidFill>
                  <a:srgbClr val="F5F0E5"/>
                </a:solidFill>
                <a:latin typeface="Helvetica Neue"/>
                <a:ea typeface="Helvetica Neue"/>
                <a:cs typeface="Helvetica Neue"/>
              </a:rPr>
              <a:t>Christ entrusted His work</a:t>
            </a:r>
          </a:p>
          <a:p xmlns:a="http://schemas.openxmlformats.org/drawingml/2006/main">
            <a:pPr>
              <a:defRPr sz="3300" b="0">
                <a:solidFill>
                  <a:srgbClr val="F5F0E5"/>
                </a:solidFill>
                <a:latin typeface="Helvetica Neue"/>
                <a:ea typeface="Helvetica Neue"/>
                <a:cs typeface="Helvetica Neue"/>
              </a:defRPr>
            </a:pPr>
            <a:r>
              <a:rPr sz="3300" b="0">
                <a:solidFill>
                  <a:srgbClr val="F5F0E5"/>
                </a:solidFill>
                <a:latin typeface="Helvetica Neue"/>
                <a:ea typeface="Helvetica Neue"/>
                <a:cs typeface="Helvetica Neue"/>
              </a:rPr>
              <a:t>to the Apostles.</a:t>
            </a:r>
          </a:p>
        </p:txBody>
      </p:sp>
      <p:sp>
        <p:nvSpPr>
          <p:cNvPr id="5" name="">
            <a:extLst xmlns:a="http://schemas.openxmlformats.org/drawingml/2006/main">
              <a:ext uri="{FF2B5EF4-FFF2-40B4-BE49-F238E27FC236}">
                <a16:creationId xmlns:a16="http://schemas.microsoft.com/office/drawing/2014/main" id="{3A1F1F6D-520E-4467-80C3-C137ED8FFDD9}"/>
              </a:ext>
            </a:extLst>
          </p:cNvPr>
          <p:cNvSpPr>
            <a:spLocks xmlns:a="http://schemas.openxmlformats.org/drawingml/2006/main" noGrp="1"/>
          </p:cNvSpPr>
          <p:nvPr/>
        </p:nvSpPr>
        <p:spPr>
          <a:xfrm xmlns:a="http://schemas.openxmlformats.org/drawingml/2006/main">
            <a:off x="685800" y="366712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Through the Holy Spirit and the laying on of hands,</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the Church continues ordained ministry.</a:t>
            </a:r>
          </a:p>
        </p:txBody>
      </p:sp>
      <p:sp>
        <p:nvSpPr>
          <p:cNvPr id="6" name="">
            <a:extLst xmlns:a="http://schemas.openxmlformats.org/drawingml/2006/main">
              <a:ext uri="{FF2B5EF4-FFF2-40B4-BE49-F238E27FC236}">
                <a16:creationId xmlns:a16="http://schemas.microsoft.com/office/drawing/2014/main" id="{BB907168-C2D5-48D0-B0D3-1968A12F9B87}"/>
              </a:ext>
            </a:extLst>
          </p:cNvPr>
          <p:cNvSpPr>
            <a:spLocks xmlns:a="http://schemas.openxmlformats.org/drawingml/2006/main" noGrp="1"/>
          </p:cNvSpPr>
          <p:nvPr/>
        </p:nvSpPr>
        <p:spPr>
          <a:xfrm xmlns:a="http://schemas.openxmlformats.org/drawingml/2006/main">
            <a:off x="685800" y="5381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C66C"/>
                </a:solidFill>
                <a:latin typeface="Helvetica Neue"/>
                <a:ea typeface="Helvetica Neue"/>
                <a:cs typeface="Helvetica Neue"/>
              </a:defRPr>
            </a:pPr>
            <a:r>
              <a:rPr sz="2325" b="0">
                <a:solidFill>
                  <a:srgbClr val="E8C66C"/>
                </a:solidFill>
                <a:latin typeface="Helvetica Neue"/>
                <a:ea typeface="Helvetica Neue"/>
                <a:cs typeface="Helvetica Neue"/>
              </a:rPr>
              <a:t>In the Eucharist, Christ acts through the priest.</a:t>
            </a:r>
          </a:p>
        </p:txBody>
      </p:sp>
    </p:spTree>
    <p:extLst>
      <p:ext uri="{BB962C8B-B14F-4D97-AF65-F5344CB8AC3E}">
        <p14:creationId xmlns:p14="http://schemas.microsoft.com/office/powerpoint/2010/main" val="1345727492"/>
      </p:ext>
    </p:extLst>
  </p:cSld>
</p:sld>
</file>

<file path=ppt/slides/slide6.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AA269C-76E6-4D20-9D4F-00336165D533}"/>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The calling of every Christian</a:t>
            </a:r>
          </a:p>
        </p:txBody>
      </p:sp>
      <p:sp>
        <p:nvSpPr>
          <p:cNvPr id="2" name="">
            <a:extLst xmlns:a="http://schemas.openxmlformats.org/drawingml/2006/main">
              <a:ext uri="{FF2B5EF4-FFF2-40B4-BE49-F238E27FC236}">
                <a16:creationId xmlns:a16="http://schemas.microsoft.com/office/drawing/2014/main" id="{C50E3A40-53EF-4900-B502-440497C00C0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36–37</a:t>
            </a:r>
          </a:p>
        </p:txBody>
      </p:sp>
      <p:sp>
        <p:nvSpPr>
          <p:cNvPr id="3" name="">
            <a:extLst xmlns:a="http://schemas.openxmlformats.org/drawingml/2006/main">
              <a:ext uri="{FF2B5EF4-FFF2-40B4-BE49-F238E27FC236}">
                <a16:creationId xmlns:a16="http://schemas.microsoft.com/office/drawing/2014/main" id="{3F0496DD-0EEE-400C-91C6-BDD299619617}"/>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334C1678-5361-493F-A99F-1D1AC86A1C25}"/>
              </a:ext>
            </a:extLst>
          </p:cNvPr>
          <p:cNvSpPr>
            <a:spLocks xmlns:a="http://schemas.openxmlformats.org/drawingml/2006/main" noGrp="1"/>
          </p:cNvSpPr>
          <p:nvPr/>
        </p:nvSpPr>
        <p:spPr>
          <a:xfrm xmlns:a="http://schemas.openxmlformats.org/drawingml/2006/main">
            <a:off x="685800" y="20002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E8C66C"/>
                </a:solidFill>
                <a:latin typeface="Helvetica Neue"/>
                <a:ea typeface="Helvetica Neue"/>
                <a:cs typeface="Helvetica Neue"/>
              </a:defRPr>
            </a:pPr>
            <a:r>
              <a:rPr sz="3975" b="1">
                <a:solidFill>
                  <a:srgbClr val="E8C66C"/>
                </a:solidFill>
                <a:latin typeface="Helvetica Neue"/>
                <a:ea typeface="Helvetica Neue"/>
                <a:cs typeface="Helvetica Neue"/>
              </a:rPr>
              <a:t>A royal priesthood</a:t>
            </a:r>
          </a:p>
        </p:txBody>
      </p:sp>
      <p:sp>
        <p:nvSpPr>
          <p:cNvPr id="5" name="">
            <a:extLst xmlns:a="http://schemas.openxmlformats.org/drawingml/2006/main">
              <a:ext uri="{FF2B5EF4-FFF2-40B4-BE49-F238E27FC236}">
                <a16:creationId xmlns:a16="http://schemas.microsoft.com/office/drawing/2014/main" id="{74496C58-12DD-4A81-8D80-B1B32802E685}"/>
              </a:ext>
            </a:extLst>
          </p:cNvPr>
          <p:cNvSpPr>
            <a:spLocks xmlns:a="http://schemas.openxmlformats.org/drawingml/2006/main" noGrp="1"/>
          </p:cNvSpPr>
          <p:nvPr/>
        </p:nvSpPr>
        <p:spPr>
          <a:xfrm xmlns:a="http://schemas.openxmlformats.org/drawingml/2006/main">
            <a:off x="685800" y="3238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5F0E5"/>
                </a:solidFill>
                <a:latin typeface="Helvetica Neue"/>
                <a:ea typeface="Helvetica Neue"/>
                <a:cs typeface="Helvetica Neue"/>
              </a:defRPr>
            </a:pPr>
            <a:r>
              <a:rPr sz="2850" b="0">
                <a:solidFill>
                  <a:srgbClr val="F5F0E5"/>
                </a:solidFill>
                <a:latin typeface="Helvetica Neue"/>
                <a:ea typeface="Helvetica Neue"/>
                <a:cs typeface="Helvetica Neue"/>
              </a:rPr>
              <a:t>Every Christian has a part in serving God</a:t>
            </a:r>
          </a:p>
          <a:p xmlns:a="http://schemas.openxmlformats.org/drawingml/2006/main">
            <a:pPr>
              <a:defRPr sz="2850" b="0">
                <a:solidFill>
                  <a:srgbClr val="F5F0E5"/>
                </a:solidFill>
                <a:latin typeface="Helvetica Neue"/>
                <a:ea typeface="Helvetica Neue"/>
                <a:cs typeface="Helvetica Neue"/>
              </a:defRPr>
            </a:pPr>
            <a:r>
              <a:rPr sz="2850" b="0">
                <a:solidFill>
                  <a:srgbClr val="F5F0E5"/>
                </a:solidFill>
                <a:latin typeface="Helvetica Neue"/>
                <a:ea typeface="Helvetica Neue"/>
                <a:cs typeface="Helvetica Neue"/>
              </a:rPr>
              <a:t>and caring for His creation.</a:t>
            </a:r>
          </a:p>
        </p:txBody>
      </p:sp>
      <p:sp>
        <p:nvSpPr>
          <p:cNvPr id="6" name="">
            <a:extLst xmlns:a="http://schemas.openxmlformats.org/drawingml/2006/main">
              <a:ext uri="{FF2B5EF4-FFF2-40B4-BE49-F238E27FC236}">
                <a16:creationId xmlns:a16="http://schemas.microsoft.com/office/drawing/2014/main" id="{56DCA1C3-9D5E-43D0-B170-85E705C12CA5}"/>
              </a:ext>
            </a:extLst>
          </p:cNvPr>
          <p:cNvSpPr>
            <a:spLocks xmlns:a="http://schemas.openxmlformats.org/drawingml/2006/main" noGrp="1"/>
          </p:cNvSpPr>
          <p:nvPr/>
        </p:nvSpPr>
        <p:spPr>
          <a:xfrm xmlns:a="http://schemas.openxmlformats.org/drawingml/2006/main">
            <a:off x="685800" y="5191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5F0E5"/>
                </a:solidFill>
                <a:latin typeface="Helvetica Neue"/>
                <a:ea typeface="Helvetica Neue"/>
                <a:cs typeface="Helvetica Neue"/>
              </a:defRPr>
            </a:pPr>
            <a:r>
              <a:rPr sz="2325" b="0">
                <a:solidFill>
                  <a:srgbClr val="F5F0E5"/>
                </a:solidFill>
                <a:latin typeface="Helvetica Neue"/>
                <a:ea typeface="Helvetica Neue"/>
                <a:cs typeface="Helvetica Neue"/>
              </a:rPr>
              <a:t>We share God’s wonderful deeds and His love.</a:t>
            </a:r>
          </a:p>
        </p:txBody>
      </p:sp>
      <p:sp>
        <p:nvSpPr>
          <p:cNvPr id="7" name="">
            <a:extLst xmlns:a="http://schemas.openxmlformats.org/drawingml/2006/main">
              <a:ext uri="{FF2B5EF4-FFF2-40B4-BE49-F238E27FC236}">
                <a16:creationId xmlns:a16="http://schemas.microsoft.com/office/drawing/2014/main" id="{BFFF4337-0C2A-43C8-A7D6-0FAB750C4356}"/>
              </a:ext>
            </a:extLst>
          </p:cNvPr>
          <p:cNvSpPr>
            <a:spLocks xmlns:a="http://schemas.openxmlformats.org/drawingml/2006/main" noGrp="1"/>
          </p:cNvSpPr>
          <p:nvPr/>
        </p:nvSpPr>
        <p:spPr>
          <a:xfrm xmlns:a="http://schemas.openxmlformats.org/drawingml/2006/main">
            <a:off x="8382000" y="57150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5D8"/>
                </a:solidFill>
                <a:latin typeface="Helvetica Neue"/>
                <a:ea typeface="Helvetica Neue"/>
                <a:cs typeface="Helvetica Neue"/>
              </a:defRPr>
            </a:pPr>
            <a:r>
              <a:rPr sz="1800" b="0">
                <a:solidFill>
                  <a:srgbClr val="B7C5D8"/>
                </a:solidFill>
                <a:latin typeface="Helvetica Neue"/>
                <a:ea typeface="Helvetica Neue"/>
                <a:cs typeface="Helvetica Neue"/>
              </a:rPr>
              <a:t>1 Peter 2:9</a:t>
            </a:r>
          </a:p>
        </p:txBody>
      </p:sp>
    </p:spTree>
    <p:extLst>
      <p:ext uri="{BB962C8B-B14F-4D97-AF65-F5344CB8AC3E}">
        <p14:creationId xmlns:p14="http://schemas.microsoft.com/office/powerpoint/2010/main" val="1038170492"/>
      </p:ext>
    </p:extLst>
  </p:cSld>
</p:sld>
</file>

<file path=ppt/slides/slide7.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6D6F85-63BE-4378-A64B-09C42808E85F}"/>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Our shared calling and particular ministries</a:t>
            </a:r>
          </a:p>
        </p:txBody>
      </p:sp>
      <p:sp>
        <p:nvSpPr>
          <p:cNvPr id="2" name="">
            <a:extLst xmlns:a="http://schemas.openxmlformats.org/drawingml/2006/main">
              <a:ext uri="{FF2B5EF4-FFF2-40B4-BE49-F238E27FC236}">
                <a16:creationId xmlns:a16="http://schemas.microsoft.com/office/drawing/2014/main" id="{666CD15F-A423-41B1-B6CD-43EB1C4AA14B}"/>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34–37</a:t>
            </a:r>
          </a:p>
        </p:txBody>
      </p:sp>
      <p:sp>
        <p:nvSpPr>
          <p:cNvPr id="3" name="">
            <a:extLst xmlns:a="http://schemas.openxmlformats.org/drawingml/2006/main">
              <a:ext uri="{FF2B5EF4-FFF2-40B4-BE49-F238E27FC236}">
                <a16:creationId xmlns:a16="http://schemas.microsoft.com/office/drawing/2014/main" id="{E4FD4F55-0539-4F30-92D1-4A536A6820DE}"/>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1B3D04B9-E0F6-4ECF-A9FC-515BE3E50153}"/>
              </a:ext>
            </a:extLst>
          </p:cNvPr>
          <p:cNvSpPr>
            <a:spLocks xmlns:a="http://schemas.openxmlformats.org/drawingml/2006/main" noGrp="1"/>
          </p:cNvSpPr>
          <p:nvPr/>
        </p:nvSpPr>
        <p:spPr>
          <a:xfrm xmlns:a="http://schemas.openxmlformats.org/drawingml/2006/main">
            <a:off x="68580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8C66C"/>
                </a:solidFill>
                <a:latin typeface="Helvetica Neue"/>
                <a:ea typeface="Helvetica Neue"/>
                <a:cs typeface="Helvetica Neue"/>
              </a:defRPr>
            </a:pPr>
            <a:r>
              <a:rPr sz="2625" b="1">
                <a:solidFill>
                  <a:srgbClr val="E8C66C"/>
                </a:solidFill>
                <a:latin typeface="Helvetica Neue"/>
                <a:ea typeface="Helvetica Neue"/>
                <a:cs typeface="Helvetica Neue"/>
              </a:rPr>
              <a:t>All Christians</a:t>
            </a:r>
          </a:p>
        </p:txBody>
      </p:sp>
      <p:sp>
        <p:nvSpPr>
          <p:cNvPr id="5" name="">
            <a:extLst xmlns:a="http://schemas.openxmlformats.org/drawingml/2006/main">
              <a:ext uri="{FF2B5EF4-FFF2-40B4-BE49-F238E27FC236}">
                <a16:creationId xmlns:a16="http://schemas.microsoft.com/office/drawing/2014/main" id="{4D2AC087-2961-4C7A-91DD-71E526E9CB0A}"/>
              </a:ext>
            </a:extLst>
          </p:cNvPr>
          <p:cNvSpPr>
            <a:spLocks xmlns:a="http://schemas.openxmlformats.org/drawingml/2006/main" noGrp="1"/>
          </p:cNvSpPr>
          <p:nvPr/>
        </p:nvSpPr>
        <p:spPr>
          <a:xfrm xmlns:a="http://schemas.openxmlformats.org/drawingml/2006/main">
            <a:off x="685800" y="2905125"/>
            <a:ext cx="5095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Follow God’s will.</a:t>
            </a:r>
          </a:p>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Care for creation.</a:t>
            </a:r>
          </a:p>
          <a:p xmlns:a="http://schemas.openxmlformats.org/drawingml/2006/main">
            <a:pPr>
              <a:defRPr sz="2475" b="0">
                <a:solidFill>
                  <a:srgbClr val="F5F0E5"/>
                </a:solidFill>
                <a:latin typeface="Helvetica Neue"/>
                <a:ea typeface="Helvetica Neue"/>
                <a:cs typeface="Helvetica Neue"/>
              </a:defRPr>
            </a:pPr>
            <a:r>
              <a:rPr sz="2475" b="0">
                <a:solidFill>
                  <a:srgbClr val="F5F0E5"/>
                </a:solidFill>
                <a:latin typeface="Helvetica Neue"/>
                <a:ea typeface="Helvetica Neue"/>
                <a:cs typeface="Helvetica Neue"/>
              </a:rPr>
              <a:t>Share His love with others.</a:t>
            </a:r>
          </a:p>
        </p:txBody>
      </p:sp>
      <p:sp>
        <p:nvSpPr>
          <p:cNvPr id="6" name="">
            <a:extLst xmlns:a="http://schemas.openxmlformats.org/drawingml/2006/main">
              <a:ext uri="{FF2B5EF4-FFF2-40B4-BE49-F238E27FC236}">
                <a16:creationId xmlns:a16="http://schemas.microsoft.com/office/drawing/2014/main" id="{42703FA2-5BAA-4363-8916-208D7A7A0DDA}"/>
              </a:ext>
            </a:extLst>
          </p:cNvPr>
          <p:cNvSpPr>
            <a:spLocks xmlns:a="http://schemas.openxmlformats.org/drawingml/2006/main" noGrp="1"/>
          </p:cNvSpPr>
          <p:nvPr/>
        </p:nvSpPr>
        <p:spPr>
          <a:xfrm xmlns:a="http://schemas.openxmlformats.org/drawingml/2006/main">
            <a:off x="657225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8C66C"/>
                </a:solidFill>
                <a:latin typeface="Helvetica Neue"/>
                <a:ea typeface="Helvetica Neue"/>
                <a:cs typeface="Helvetica Neue"/>
              </a:defRPr>
            </a:pPr>
            <a:r>
              <a:rPr sz="2625" b="1">
                <a:solidFill>
                  <a:srgbClr val="E8C66C"/>
                </a:solidFill>
                <a:latin typeface="Helvetica Neue"/>
                <a:ea typeface="Helvetica Neue"/>
                <a:cs typeface="Helvetica Neue"/>
              </a:rPr>
              <a:t>Ordained ministers</a:t>
            </a:r>
          </a:p>
        </p:txBody>
      </p:sp>
      <p:sp>
        <p:nvSpPr>
          <p:cNvPr id="7" name="">
            <a:extLst xmlns:a="http://schemas.openxmlformats.org/drawingml/2006/main">
              <a:ext uri="{FF2B5EF4-FFF2-40B4-BE49-F238E27FC236}">
                <a16:creationId xmlns:a16="http://schemas.microsoft.com/office/drawing/2014/main" id="{EA248AF1-9AA1-4494-8093-9C61B927B6E9}"/>
              </a:ext>
            </a:extLst>
          </p:cNvPr>
          <p:cNvSpPr>
            <a:spLocks xmlns:a="http://schemas.openxmlformats.org/drawingml/2006/main" noGrp="1"/>
          </p:cNvSpPr>
          <p:nvPr/>
        </p:nvSpPr>
        <p:spPr>
          <a:xfrm xmlns:a="http://schemas.openxmlformats.org/drawingml/2006/main">
            <a:off x="6572250" y="2905125"/>
            <a:ext cx="5000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5F0E5"/>
                </a:solidFill>
                <a:latin typeface="Helvetica Neue"/>
                <a:ea typeface="Helvetica Neue"/>
                <a:cs typeface="Helvetica Neue"/>
              </a:defRPr>
            </a:pPr>
            <a:r>
              <a:rPr sz="2325" b="0">
                <a:solidFill>
                  <a:srgbClr val="F5F0E5"/>
                </a:solidFill>
                <a:latin typeface="Helvetica Neue"/>
                <a:ea typeface="Helvetica Neue"/>
                <a:cs typeface="Helvetica Neue"/>
              </a:rPr>
              <a:t>Receive a particular calling.</a:t>
            </a:r>
          </a:p>
          <a:p xmlns:a="http://schemas.openxmlformats.org/drawingml/2006/main">
            <a:pPr>
              <a:defRPr sz="2325" b="0">
                <a:solidFill>
                  <a:srgbClr val="F5F0E5"/>
                </a:solidFill>
                <a:latin typeface="Helvetica Neue"/>
                <a:ea typeface="Helvetica Neue"/>
                <a:cs typeface="Helvetica Neue"/>
              </a:defRPr>
            </a:pPr>
            <a:r>
              <a:rPr sz="2325" b="0">
                <a:solidFill>
                  <a:srgbClr val="F5F0E5"/>
                </a:solidFill>
                <a:latin typeface="Helvetica Neue"/>
                <a:ea typeface="Helvetica Neue"/>
                <a:cs typeface="Helvetica Neue"/>
              </a:rPr>
              <a:t>Serve through ordination.</a:t>
            </a:r>
          </a:p>
          <a:p xmlns:a="http://schemas.openxmlformats.org/drawingml/2006/main">
            <a:pPr>
              <a:defRPr sz="2325" b="0">
                <a:solidFill>
                  <a:srgbClr val="F5F0E5"/>
                </a:solidFill>
                <a:latin typeface="Helvetica Neue"/>
                <a:ea typeface="Helvetica Neue"/>
                <a:cs typeface="Helvetica Neue"/>
              </a:defRPr>
            </a:pPr>
            <a:r>
              <a:rPr sz="2325" b="0">
                <a:solidFill>
                  <a:srgbClr val="F5F0E5"/>
                </a:solidFill>
                <a:latin typeface="Helvetica Neue"/>
                <a:ea typeface="Helvetica Neue"/>
                <a:cs typeface="Helvetica Neue"/>
              </a:rPr>
              <a:t>Help the community worship</a:t>
            </a:r>
          </a:p>
          <a:p xmlns:a="http://schemas.openxmlformats.org/drawingml/2006/main">
            <a:pPr>
              <a:defRPr sz="2325" b="0">
                <a:solidFill>
                  <a:srgbClr val="F5F0E5"/>
                </a:solidFill>
                <a:latin typeface="Helvetica Neue"/>
                <a:ea typeface="Helvetica Neue"/>
                <a:cs typeface="Helvetica Neue"/>
              </a:defRPr>
            </a:pPr>
            <a:r>
              <a:rPr sz="2325" b="0">
                <a:solidFill>
                  <a:srgbClr val="F5F0E5"/>
                </a:solidFill>
                <a:latin typeface="Helvetica Neue"/>
                <a:ea typeface="Helvetica Neue"/>
                <a:cs typeface="Helvetica Neue"/>
              </a:rPr>
              <a:t>and draw near to Christ.</a:t>
            </a:r>
          </a:p>
        </p:txBody>
      </p:sp>
    </p:spTree>
    <p:extLst>
      <p:ext uri="{BB962C8B-B14F-4D97-AF65-F5344CB8AC3E}">
        <p14:creationId xmlns:p14="http://schemas.microsoft.com/office/powerpoint/2010/main" val="1584079206"/>
      </p:ext>
    </p:extLst>
  </p:cSld>
</p:sld>
</file>

<file path=ppt/slides/slide8.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930EC1-88A3-4BE6-8024-9EB190903646}"/>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Service in everyday life</a:t>
            </a:r>
          </a:p>
        </p:txBody>
      </p:sp>
      <p:sp>
        <p:nvSpPr>
          <p:cNvPr id="2" name="">
            <a:extLst xmlns:a="http://schemas.openxmlformats.org/drawingml/2006/main">
              <a:ext uri="{FF2B5EF4-FFF2-40B4-BE49-F238E27FC236}">
                <a16:creationId xmlns:a16="http://schemas.microsoft.com/office/drawing/2014/main" id="{A10A8FAC-A6A4-4D23-80D7-9F2E18212377}"/>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36–37</a:t>
            </a:r>
          </a:p>
        </p:txBody>
      </p:sp>
      <p:sp>
        <p:nvSpPr>
          <p:cNvPr id="3" name="">
            <a:extLst xmlns:a="http://schemas.openxmlformats.org/drawingml/2006/main">
              <a:ext uri="{FF2B5EF4-FFF2-40B4-BE49-F238E27FC236}">
                <a16:creationId xmlns:a16="http://schemas.microsoft.com/office/drawing/2014/main" id="{34E83449-4D9E-40ED-BEAF-90D5742A5ED7}"/>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F57E9280-7DED-4255-AF5A-075FB75C33EE}"/>
              </a:ext>
            </a:extLst>
          </p:cNvPr>
          <p:cNvSpPr>
            <a:spLocks xmlns:a="http://schemas.openxmlformats.org/drawingml/2006/main" noGrp="1"/>
          </p:cNvSpPr>
          <p:nvPr/>
        </p:nvSpPr>
        <p:spPr>
          <a:xfrm xmlns:a="http://schemas.openxmlformats.org/drawingml/2006/main">
            <a:off x="685800" y="20002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5F0E5"/>
                </a:solidFill>
                <a:latin typeface="Helvetica Neue"/>
                <a:ea typeface="Helvetica Neue"/>
                <a:cs typeface="Helvetica Neue"/>
              </a:defRPr>
            </a:pPr>
            <a:r>
              <a:rPr sz="3150" b="0">
                <a:solidFill>
                  <a:srgbClr val="F5F0E5"/>
                </a:solidFill>
                <a:latin typeface="Helvetica Neue"/>
                <a:ea typeface="Helvetica Neue"/>
                <a:cs typeface="Helvetica Neue"/>
              </a:rPr>
              <a:t>A new student arrives at Sunday school</a:t>
            </a:r>
          </a:p>
          <a:p xmlns:a="http://schemas.openxmlformats.org/drawingml/2006/main">
            <a:pPr>
              <a:defRPr sz="3150" b="0">
                <a:solidFill>
                  <a:srgbClr val="F5F0E5"/>
                </a:solidFill>
                <a:latin typeface="Helvetica Neue"/>
                <a:ea typeface="Helvetica Neue"/>
                <a:cs typeface="Helvetica Neue"/>
              </a:defRPr>
            </a:pPr>
            <a:r>
              <a:rPr sz="3150" b="0">
                <a:solidFill>
                  <a:srgbClr val="F5F0E5"/>
                </a:solidFill>
                <a:latin typeface="Helvetica Neue"/>
                <a:ea typeface="Helvetica Neue"/>
                <a:cs typeface="Helvetica Neue"/>
              </a:rPr>
              <a:t>and does not know anyone.</a:t>
            </a:r>
          </a:p>
        </p:txBody>
      </p:sp>
      <p:sp>
        <p:nvSpPr>
          <p:cNvPr id="5" name="">
            <a:extLst xmlns:a="http://schemas.openxmlformats.org/drawingml/2006/main">
              <a:ext uri="{FF2B5EF4-FFF2-40B4-BE49-F238E27FC236}">
                <a16:creationId xmlns:a16="http://schemas.microsoft.com/office/drawing/2014/main" id="{6306D8F4-F797-4AD6-9669-2E1FD0BE433F}"/>
              </a:ext>
            </a:extLst>
          </p:cNvPr>
          <p:cNvSpPr>
            <a:spLocks xmlns:a="http://schemas.openxmlformats.org/drawingml/2006/main" noGrp="1"/>
          </p:cNvSpPr>
          <p:nvPr/>
        </p:nvSpPr>
        <p:spPr>
          <a:xfrm xmlns:a="http://schemas.openxmlformats.org/drawingml/2006/main">
            <a:off x="685800" y="38576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8C66C"/>
                </a:solidFill>
                <a:latin typeface="Helvetica Neue"/>
                <a:ea typeface="Helvetica Neue"/>
                <a:cs typeface="Helvetica Neue"/>
              </a:defRPr>
            </a:pPr>
            <a:r>
              <a:rPr sz="2850" b="1">
                <a:solidFill>
                  <a:srgbClr val="E8C66C"/>
                </a:solidFill>
                <a:latin typeface="Helvetica Neue"/>
                <a:ea typeface="Helvetica Neue"/>
                <a:cs typeface="Helvetica Neue"/>
              </a:rPr>
              <a:t>How could you show Christ’s love?</a:t>
            </a:r>
          </a:p>
        </p:txBody>
      </p:sp>
      <p:sp>
        <p:nvSpPr>
          <p:cNvPr id="6" name="">
            <a:extLst xmlns:a="http://schemas.openxmlformats.org/drawingml/2006/main">
              <a:ext uri="{FF2B5EF4-FFF2-40B4-BE49-F238E27FC236}">
                <a16:creationId xmlns:a16="http://schemas.microsoft.com/office/drawing/2014/main" id="{A0FABDD7-7677-4685-86AD-38BA334F91DC}"/>
              </a:ext>
            </a:extLst>
          </p:cNvPr>
          <p:cNvSpPr>
            <a:spLocks xmlns:a="http://schemas.openxmlformats.org/drawingml/2006/main" noGrp="1"/>
          </p:cNvSpPr>
          <p:nvPr/>
        </p:nvSpPr>
        <p:spPr>
          <a:xfrm xmlns:a="http://schemas.openxmlformats.org/drawingml/2006/main">
            <a:off x="685800" y="50958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Name one action you could take this week.</a:t>
            </a:r>
          </a:p>
        </p:txBody>
      </p:sp>
    </p:spTree>
    <p:extLst>
      <p:ext uri="{BB962C8B-B14F-4D97-AF65-F5344CB8AC3E}">
        <p14:creationId xmlns:p14="http://schemas.microsoft.com/office/powerpoint/2010/main" val="1743296519"/>
      </p:ext>
    </p:extLst>
  </p:cSld>
</p:sld>
</file>

<file path=ppt/slides/slide9.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E0F02B-EE74-4647-A25A-1095C21D9AD8}"/>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Chapter 6 quick quiz</a:t>
            </a:r>
          </a:p>
        </p:txBody>
      </p:sp>
      <p:sp>
        <p:nvSpPr>
          <p:cNvPr id="2" name="">
            <a:extLst xmlns:a="http://schemas.openxmlformats.org/drawingml/2006/main">
              <a:ext uri="{FF2B5EF4-FFF2-40B4-BE49-F238E27FC236}">
                <a16:creationId xmlns:a16="http://schemas.microsoft.com/office/drawing/2014/main" id="{90ECE9EC-64DF-4965-8044-FBE88029755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34–37</a:t>
            </a:r>
          </a:p>
        </p:txBody>
      </p:sp>
      <p:sp>
        <p:nvSpPr>
          <p:cNvPr id="3" name="">
            <a:extLst xmlns:a="http://schemas.openxmlformats.org/drawingml/2006/main">
              <a:ext uri="{FF2B5EF4-FFF2-40B4-BE49-F238E27FC236}">
                <a16:creationId xmlns:a16="http://schemas.microsoft.com/office/drawing/2014/main" id="{B87E4139-AFC0-48BE-9F51-906ACD42EF30}"/>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3CE9BBA4-4CD0-4B63-BB5F-E308B22D2E11}"/>
              </a:ext>
            </a:extLst>
          </p:cNvPr>
          <p:cNvSpPr>
            <a:spLocks xmlns:a="http://schemas.openxmlformats.org/drawingml/2006/main" noGrp="1"/>
          </p:cNvSpPr>
          <p:nvPr/>
        </p:nvSpPr>
        <p:spPr>
          <a:xfrm xmlns:a="http://schemas.openxmlformats.org/drawingml/2006/main">
            <a:off x="685800" y="19526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1. Who became the high priest of the Tabernacle?</a:t>
            </a:r>
          </a:p>
        </p:txBody>
      </p:sp>
      <p:sp>
        <p:nvSpPr>
          <p:cNvPr id="5" name="">
            <a:extLst xmlns:a="http://schemas.openxmlformats.org/drawingml/2006/main">
              <a:ext uri="{FF2B5EF4-FFF2-40B4-BE49-F238E27FC236}">
                <a16:creationId xmlns:a16="http://schemas.microsoft.com/office/drawing/2014/main" id="{9423CBA6-2AFB-4FA4-96A4-886CF38139A3}"/>
              </a:ext>
            </a:extLst>
          </p:cNvPr>
          <p:cNvSpPr>
            <a:spLocks xmlns:a="http://schemas.openxmlformats.org/drawingml/2006/main" noGrp="1"/>
          </p:cNvSpPr>
          <p:nvPr/>
        </p:nvSpPr>
        <p:spPr>
          <a:xfrm xmlns:a="http://schemas.openxmlformats.org/drawingml/2006/main">
            <a:off x="685800" y="3238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2. Why does the lesson call Christ our High Priest?</a:t>
            </a:r>
          </a:p>
        </p:txBody>
      </p:sp>
      <p:sp>
        <p:nvSpPr>
          <p:cNvPr id="6" name="">
            <a:extLst xmlns:a="http://schemas.openxmlformats.org/drawingml/2006/main">
              <a:ext uri="{FF2B5EF4-FFF2-40B4-BE49-F238E27FC236}">
                <a16:creationId xmlns:a16="http://schemas.microsoft.com/office/drawing/2014/main" id="{224189D1-0088-4B64-BC97-4B4136062071}"/>
              </a:ext>
            </a:extLst>
          </p:cNvPr>
          <p:cNvSpPr>
            <a:spLocks xmlns:a="http://schemas.openxmlformats.org/drawingml/2006/main" noGrp="1"/>
          </p:cNvSpPr>
          <p:nvPr/>
        </p:nvSpPr>
        <p:spPr>
          <a:xfrm xmlns:a="http://schemas.openxmlformats.org/drawingml/2006/main">
            <a:off x="685800" y="4714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3. Does the call to serve God belong only to</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    ordained priests? Explain your answer.</a:t>
            </a:r>
          </a:p>
        </p:txBody>
      </p:sp>
    </p:spTree>
    <p:extLst>
      <p:ext uri="{BB962C8B-B14F-4D97-AF65-F5344CB8AC3E}">
        <p14:creationId xmlns:p14="http://schemas.microsoft.com/office/powerpoint/2010/main" val="222799977"/>
      </p:ext>
    </p:extLst>
  </p:cSld>
</p:sld>
</file>

<file path=ppt/slides/slide10.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2B54A8-2EDC-4C0B-82B8-A4EDEFCE6C2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Answers and one idea to remember</a:t>
            </a:r>
          </a:p>
        </p:txBody>
      </p:sp>
      <p:sp>
        <p:nvSpPr>
          <p:cNvPr id="2" name="">
            <a:extLst xmlns:a="http://schemas.openxmlformats.org/drawingml/2006/main">
              <a:ext uri="{FF2B5EF4-FFF2-40B4-BE49-F238E27FC236}">
                <a16:creationId xmlns:a16="http://schemas.microsoft.com/office/drawing/2014/main" id="{47B51BDF-5A84-4630-8CA3-03A53E256A3B}"/>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6   /   pp. 34–37</a:t>
            </a:r>
          </a:p>
        </p:txBody>
      </p:sp>
      <p:sp>
        <p:nvSpPr>
          <p:cNvPr id="3" name="">
            <a:extLst xmlns:a="http://schemas.openxmlformats.org/drawingml/2006/main">
              <a:ext uri="{FF2B5EF4-FFF2-40B4-BE49-F238E27FC236}">
                <a16:creationId xmlns:a16="http://schemas.microsoft.com/office/drawing/2014/main" id="{3BB059BE-C035-4418-8B9A-E7D01458D54C}"/>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0F8BBF1-3B6E-4C85-A49A-2E7F62A5E401}"/>
              </a:ext>
            </a:extLst>
          </p:cNvPr>
          <p:cNvSpPr>
            <a:spLocks xmlns:a="http://schemas.openxmlformats.org/drawingml/2006/main" noGrp="1"/>
          </p:cNvSpPr>
          <p:nvPr/>
        </p:nvSpPr>
        <p:spPr>
          <a:xfrm xmlns:a="http://schemas.openxmlformats.org/drawingml/2006/main">
            <a:off x="685800" y="180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8C66C"/>
                </a:solidFill>
                <a:latin typeface="Helvetica Neue"/>
                <a:ea typeface="Helvetica Neue"/>
                <a:cs typeface="Helvetica Neue"/>
              </a:defRPr>
            </a:pPr>
            <a:r>
              <a:rPr sz="2400" b="1">
                <a:solidFill>
                  <a:srgbClr val="E8C66C"/>
                </a:solidFill>
                <a:latin typeface="Helvetica Neue"/>
                <a:ea typeface="Helvetica Neue"/>
                <a:cs typeface="Helvetica Neue"/>
              </a:rPr>
              <a:t>1. Aaron</a:t>
            </a:r>
          </a:p>
        </p:txBody>
      </p:sp>
      <p:sp>
        <p:nvSpPr>
          <p:cNvPr id="5" name="">
            <a:extLst xmlns:a="http://schemas.openxmlformats.org/drawingml/2006/main">
              <a:ext uri="{FF2B5EF4-FFF2-40B4-BE49-F238E27FC236}">
                <a16:creationId xmlns:a16="http://schemas.microsoft.com/office/drawing/2014/main" id="{75B03CB8-7B78-4E00-8973-05D916CF0C2D}"/>
              </a:ext>
            </a:extLst>
          </p:cNvPr>
          <p:cNvSpPr>
            <a:spLocks xmlns:a="http://schemas.openxmlformats.org/drawingml/2006/main" noGrp="1"/>
          </p:cNvSpPr>
          <p:nvPr/>
        </p:nvSpPr>
        <p:spPr>
          <a:xfrm xmlns:a="http://schemas.openxmlformats.org/drawingml/2006/main">
            <a:off x="6858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2. Christ offered Himself on the Cross</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    to reunite us with God.</a:t>
            </a:r>
          </a:p>
        </p:txBody>
      </p:sp>
      <p:sp>
        <p:nvSpPr>
          <p:cNvPr id="6" name="">
            <a:extLst xmlns:a="http://schemas.openxmlformats.org/drawingml/2006/main">
              <a:ext uri="{FF2B5EF4-FFF2-40B4-BE49-F238E27FC236}">
                <a16:creationId xmlns:a16="http://schemas.microsoft.com/office/drawing/2014/main" id="{D00BC944-4B8B-47D2-AED6-83E2A3807120}"/>
              </a:ext>
            </a:extLst>
          </p:cNvPr>
          <p:cNvSpPr>
            <a:spLocks xmlns:a="http://schemas.openxmlformats.org/drawingml/2006/main" noGrp="1"/>
          </p:cNvSpPr>
          <p:nvPr/>
        </p:nvSpPr>
        <p:spPr>
          <a:xfrm xmlns:a="http://schemas.openxmlformats.org/drawingml/2006/main">
            <a:off x="685800" y="4143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3. All Christians serve God. Ordained ministers</a:t>
            </a:r>
          </a:p>
          <a:p xmlns:a="http://schemas.openxmlformats.org/drawingml/2006/main">
            <a:pPr>
              <a:defRPr sz="2400" b="0">
                <a:solidFill>
                  <a:srgbClr val="F5F0E5"/>
                </a:solidFill>
                <a:latin typeface="Helvetica Neue"/>
                <a:ea typeface="Helvetica Neue"/>
                <a:cs typeface="Helvetica Neue"/>
              </a:defRPr>
            </a:pPr>
            <a:r>
              <a:rPr sz="2400" b="0">
                <a:solidFill>
                  <a:srgbClr val="F5F0E5"/>
                </a:solidFill>
                <a:latin typeface="Helvetica Neue"/>
                <a:ea typeface="Helvetica Neue"/>
                <a:cs typeface="Helvetica Neue"/>
              </a:rPr>
              <a:t>    have a particular calling within the Church.</a:t>
            </a:r>
          </a:p>
        </p:txBody>
      </p:sp>
      <p:sp>
        <p:nvSpPr>
          <p:cNvPr id="7" name="">
            <a:extLst xmlns:a="http://schemas.openxmlformats.org/drawingml/2006/main">
              <a:ext uri="{FF2B5EF4-FFF2-40B4-BE49-F238E27FC236}">
                <a16:creationId xmlns:a16="http://schemas.microsoft.com/office/drawing/2014/main" id="{43B888F2-1FC5-497C-AE61-35BD6002D0E0}"/>
              </a:ext>
            </a:extLst>
          </p:cNvPr>
          <p:cNvSpPr>
            <a:spLocks xmlns:a="http://schemas.openxmlformats.org/drawingml/2006/main" noGrp="1"/>
          </p:cNvSpPr>
          <p:nvPr/>
        </p:nvSpPr>
        <p:spPr>
          <a:xfrm xmlns:a="http://schemas.openxmlformats.org/drawingml/2006/main">
            <a:off x="685800" y="561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8C66C"/>
                </a:solidFill>
                <a:latin typeface="Helvetica Neue"/>
                <a:ea typeface="Helvetica Neue"/>
                <a:cs typeface="Helvetica Neue"/>
              </a:defRPr>
            </a:pPr>
            <a:r>
              <a:rPr sz="2175" b="1">
                <a:solidFill>
                  <a:srgbClr val="E8C66C"/>
                </a:solidFill>
                <a:latin typeface="Helvetica Neue"/>
                <a:ea typeface="Helvetica Neue"/>
                <a:cs typeface="Helvetica Neue"/>
              </a:rPr>
              <a:t>Christ is our High Priest. We all have a call to serve.</a:t>
            </a:r>
          </a:p>
        </p:txBody>
      </p:sp>
    </p:spTree>
    <p:extLst>
      <p:ext uri="{BB962C8B-B14F-4D97-AF65-F5344CB8AC3E}">
        <p14:creationId xmlns:p14="http://schemas.microsoft.com/office/powerpoint/2010/main" val="1258135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2026-10-02T18:50:24.2590000Z</dcterms:created>
  <dcterms:modified xsi:type="dcterms:W3CDTF">2026-10-02T18:50:24.2590000Z</dcterms:modified>
</coreProperties>
</file>