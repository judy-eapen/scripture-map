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bee17aee784e3f" /><Relationship Type="http://schemas.openxmlformats.org/officeDocument/2006/relationships/extended-properties" Target="/docProps/app.xml" Id="Rb34fa035fe81410a" /><Relationship Type="http://schemas.openxmlformats.org/officeDocument/2006/relationships/officeDocument" Target="/ppt/presentation.xml" Id="R0eaa051286b942db" /></Relationships>
</file>

<file path=ppt/presentation.xml><?xml version="1.0" encoding="utf-8"?>
<p:presentation xmlns:p="http://schemas.openxmlformats.org/presentationml/2006/main">
  <p:sldMasterIdLst>
    <p:sldMasterId xmlns:r="http://schemas.openxmlformats.org/officeDocument/2006/relationships" id="2147483648" r:id="Rc72af1c5f5eb4d25"/>
  </p:sldMasterIdLst>
  <p:notesMasterIdLst>
    <p:notesMasterId xmlns:r="http://schemas.openxmlformats.org/officeDocument/2006/relationships" r:id="R03ddda2c4c0d4707"/>
  </p:notesMasterIdLst>
  <p:sldIdLst>
    <p:sldId xmlns:r="http://schemas.openxmlformats.org/officeDocument/2006/relationships" id="256" r:id="R2453cdb9e2a64a7a"/>
    <p:sldId xmlns:r="http://schemas.openxmlformats.org/officeDocument/2006/relationships" id="257" r:id="Rfb13ea56a3104fee"/>
    <p:sldId xmlns:r="http://schemas.openxmlformats.org/officeDocument/2006/relationships" id="258" r:id="R6f2aeb6ddbfc4282"/>
    <p:sldId xmlns:r="http://schemas.openxmlformats.org/officeDocument/2006/relationships" id="259" r:id="Rfa558a0e082341c3"/>
    <p:sldId xmlns:r="http://schemas.openxmlformats.org/officeDocument/2006/relationships" id="260" r:id="Rf75bafab14884234"/>
    <p:sldId xmlns:r="http://schemas.openxmlformats.org/officeDocument/2006/relationships" id="261" r:id="R16b60b6e9bfa4339"/>
    <p:sldId xmlns:r="http://schemas.openxmlformats.org/officeDocument/2006/relationships" id="262" r:id="Ra421992b4d0e49ae"/>
    <p:sldId xmlns:r="http://schemas.openxmlformats.org/officeDocument/2006/relationships" id="263" r:id="R7231e2c216184e8a"/>
    <p:sldId xmlns:r="http://schemas.openxmlformats.org/officeDocument/2006/relationships" id="264" r:id="R4e2f988574b540d8"/>
    <p:sldId xmlns:r="http://schemas.openxmlformats.org/officeDocument/2006/relationships" id="265" r:id="R4503b2e4e4de456e"/>
    <p:sldId xmlns:r="http://schemas.openxmlformats.org/officeDocument/2006/relationships" id="266" r:id="R7fb7f8f42ea643c7"/>
    <p:sldId xmlns:r="http://schemas.openxmlformats.org/officeDocument/2006/relationships" id="267" r:id="R7811c1e587074207"/>
    <p:sldId xmlns:r="http://schemas.openxmlformats.org/officeDocument/2006/relationships" id="268" r:id="R13879210597843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c6d0b0009541fd" /><Relationship Type="http://schemas.openxmlformats.org/officeDocument/2006/relationships/slideMaster" Target="/ppt/slideMasters/slideMaster1.xml" Id="Rc72af1c5f5eb4d25" /><Relationship Type="http://schemas.openxmlformats.org/officeDocument/2006/relationships/notesMaster" Target="/ppt/notesMasters/notesMaster1.xml" Id="R03ddda2c4c0d4707" /><Relationship Type="http://schemas.openxmlformats.org/officeDocument/2006/relationships/presProps" Target="/ppt/presProps.xml" Id="Rc7c60753ddbc4d1b" /><Relationship Type="http://schemas.openxmlformats.org/officeDocument/2006/relationships/tableStyles" Target="/ppt/tableStyles.xml" Id="R0f196a58b8734c30" /><Relationship Type="http://schemas.openxmlformats.org/officeDocument/2006/relationships/slide" Target="/ppt/slides/slide1.xml" Id="R2453cdb9e2a64a7a" /><Relationship Type="http://schemas.openxmlformats.org/officeDocument/2006/relationships/slide" Target="/ppt/slides/slide2.xml" Id="Rfb13ea56a3104fee" /><Relationship Type="http://schemas.openxmlformats.org/officeDocument/2006/relationships/slide" Target="/ppt/slides/slide3.xml" Id="R6f2aeb6ddbfc4282" /><Relationship Type="http://schemas.openxmlformats.org/officeDocument/2006/relationships/slide" Target="/ppt/slides/slide4.xml" Id="Rfa558a0e082341c3" /><Relationship Type="http://schemas.openxmlformats.org/officeDocument/2006/relationships/slide" Target="/ppt/slides/slide5.xml" Id="Rf75bafab14884234" /><Relationship Type="http://schemas.openxmlformats.org/officeDocument/2006/relationships/slide" Target="/ppt/slides/slide6.xml" Id="R16b60b6e9bfa4339" /><Relationship Type="http://schemas.openxmlformats.org/officeDocument/2006/relationships/slide" Target="/ppt/slides/slide7.xml" Id="Ra421992b4d0e49ae" /><Relationship Type="http://schemas.openxmlformats.org/officeDocument/2006/relationships/slide" Target="/ppt/slides/slide8.xml" Id="R7231e2c216184e8a" /><Relationship Type="http://schemas.openxmlformats.org/officeDocument/2006/relationships/slide" Target="/ppt/slides/slide9.xml" Id="R4e2f988574b540d8" /><Relationship Type="http://schemas.openxmlformats.org/officeDocument/2006/relationships/slide" Target="/ppt/slides/slide10.xml" Id="R4503b2e4e4de456e" /><Relationship Type="http://schemas.openxmlformats.org/officeDocument/2006/relationships/slide" Target="/ppt/slides/slide11.xml" Id="R7fb7f8f42ea643c7" /><Relationship Type="http://schemas.openxmlformats.org/officeDocument/2006/relationships/slide" Target="/ppt/slides/slide12.xml" Id="R7811c1e587074207" /><Relationship Type="http://schemas.openxmlformats.org/officeDocument/2006/relationships/slide" Target="/ppt/slides/slide13.xml" Id="R13879210597843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85a913466046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e9cd63529d4244" /><Relationship Type="http://schemas.openxmlformats.org/officeDocument/2006/relationships/notesMaster" Target="/ppt/notesMasters/notesMaster1.xml" Id="R12d7579fa2294d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acf594b39a4560" /><Relationship Type="http://schemas.openxmlformats.org/officeDocument/2006/relationships/notesMaster" Target="/ppt/notesMasters/notesMaster1.xml" Id="R45f5c20e2c694e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172936ac7b4d32" /><Relationship Type="http://schemas.openxmlformats.org/officeDocument/2006/relationships/notesMaster" Target="/ppt/notesMasters/notesMaster1.xml" Id="R65b9355b2a414b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bdfa204ece4429" /><Relationship Type="http://schemas.openxmlformats.org/officeDocument/2006/relationships/notesMaster" Target="/ppt/notesMasters/notesMaster1.xml" Id="R3beb40a9c3c745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62bc9033eb4e1f" /><Relationship Type="http://schemas.openxmlformats.org/officeDocument/2006/relationships/notesMaster" Target="/ppt/notesMasters/notesMaster1.xml" Id="R0ebc8be3bf3a48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21fd3f118241fc" /><Relationship Type="http://schemas.openxmlformats.org/officeDocument/2006/relationships/notesMaster" Target="/ppt/notesMasters/notesMaster1.xml" Id="Rd029334aefce4d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199a6e56cb4bcf" /><Relationship Type="http://schemas.openxmlformats.org/officeDocument/2006/relationships/notesMaster" Target="/ppt/notesMasters/notesMaster1.xml" Id="R9ab70faec53e4e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2c3dd5e08048b9" /><Relationship Type="http://schemas.openxmlformats.org/officeDocument/2006/relationships/notesMaster" Target="/ppt/notesMasters/notesMaster1.xml" Id="R27fc6973ff0943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36f16d0d394940" /><Relationship Type="http://schemas.openxmlformats.org/officeDocument/2006/relationships/notesMaster" Target="/ppt/notesMasters/notesMaster1.xml" Id="R56dc1ecfccae4f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a72f68a8dd424c" /><Relationship Type="http://schemas.openxmlformats.org/officeDocument/2006/relationships/notesMaster" Target="/ppt/notesMasters/notesMaster1.xml" Id="R2d9a163ae17540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b86e06609640b0" /><Relationship Type="http://schemas.openxmlformats.org/officeDocument/2006/relationships/notesMaster" Target="/ppt/notesMasters/notesMaster1.xml" Id="R741708eb61f847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6de4e710f64488" /><Relationship Type="http://schemas.openxmlformats.org/officeDocument/2006/relationships/notesMaster" Target="/ppt/notesMasters/notesMaster1.xml" Id="Re032eb9ee31b4e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c911a26a034aa5" /><Relationship Type="http://schemas.openxmlformats.org/officeDocument/2006/relationships/notesMaster" Target="/ppt/notesMasters/notesMaster1.xml" Id="Rc4b30b3c8c9848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20 minutes. Ask what students notice during the Holy Qurbana. Explain that the lesson helps us participate thoughtfully, rather than simply memorize an order.</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38–46.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Pre-Anaphora includes readings and preparation. Anaphora means offering and centers on the Eucharist. The curriculum connects it with the Upper Room and Christ’s Mystical Supper.</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readings include Acts or the general epistles, a Pauline epistle, and the Gospel. Explain the candle bearer as a sign of John the Baptist preparing the way for Christ. The Trisagion is the hymn beginning Holy God. Image: worship photograph reproduced in the supplied curriculum, printed p. 40.</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Promion, Husoyo, and Sedro as prayers within the service. Prayers include the priest, the faithful, and the living and departed. Catechumens are people preparing for baptism. Avoid making the vocabulary a memory test.</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Matthew 5:23–24 with sincere reconciliation. Ask for a fictional example of making peace after an argument. Do not pressure students to disclose conflict. Seeking help and keeping safe can be part of reconciliation.</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38,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veil over the paten and chalice is called Shoshappa or Shushefo. The lesson associates it with the stone at Christ’s tomb. The Sanctus joins our praise with heaven. Explain symbolism as helping us understand the mystery, not as a performance.</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42–43.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Church confesses the Eucharist as Christ’s real Body and Blood. Remembering here is the Church’s participation in His saving work; do not reduce Holy Communion to an ordinary memorial meal.</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Epiclesis means invocation. The six Diptychs remember church leaders; the sick, suffering, and those requesting prayer; civil rulers; Mary and the saints; teachers of the Church; and the faithful departed. Emphasize the communion of the whole Church.</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43–44.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Fraction is the breaking of the consecrated Bread and recalls Christ’s death and burial. The Lord’s Prayer expresses closeness to our heavenly Father. Preparation includes repentance and guidance from one’s spiritual father; do not give a universal confession schedule.</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44–45.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elevation proclaims holiness belonging to the Trinity. Discuss how receiving Christ calls us to care for others throughout the week. Physical attendance alone is not the lesson’s goal.</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45–46.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classroom application based on the lesson. Allow one minute of discussion. Possible answers include welcoming the classmate, listening, and refusing cruel jokes. Connect worship with practical love.</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38,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showing the answers. Accept equivalent meaning. These are newly written curriculum-based practice questions.</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39, 42–43.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name one action that connects Sunday worship with Monday life. Review any unfamiliar terms without rewarding pronunciation over understanding.</a:t>
            </a:r>
          </a:p>
          <a:p xmlns:a="http://schemas.openxmlformats.org/drawingml/2006/main">
            <a:r>
              <a:t/>
            </a:r>
          </a:p>
          <a:p xmlns:a="http://schemas.openxmlformats.org/drawingml/2006/main">
            <a:r>
              <a:t>Source: Our Sacramental Life, Sixth Grade, June 2026, Sunday School of the North American Dioceses of the Malankara Orthodox Syrian Church. User-supplied curriculum. Teaching summaries and practice questions are paraphrased. Printed pp. 38–46.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5bf5c546bc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864d52e02743ab" /><Relationship Type="http://schemas.openxmlformats.org/officeDocument/2006/relationships/slideLayout" Target="/ppt/slideLayouts/slideLayout1.xml" Id="R17384d18a9d243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384d18a9d243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0129f5a3154e8a" /><Relationship Type="http://schemas.openxmlformats.org/officeDocument/2006/relationships/notesSlide" Target="/ppt/notesSlides/notesSlide1.xml" Id="Ra6da1216c4d645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af37e0fc414ce9" /><Relationship Type="http://schemas.openxmlformats.org/officeDocument/2006/relationships/notesSlide" Target="/ppt/notesSlides/notesSlide2.xml" Id="R57de68bfc3c348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1accc21b424a5c" /><Relationship Type="http://schemas.openxmlformats.org/officeDocument/2006/relationships/image" Target="/ppt/media/image.png" Id="Rb67a7a4f67f94889" /><Relationship Type="http://schemas.openxmlformats.org/officeDocument/2006/relationships/notesSlide" Target="/ppt/notesSlides/notesSlide3.xml" Id="R25bd60b63f1c44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168ae81690400e" /><Relationship Type="http://schemas.openxmlformats.org/officeDocument/2006/relationships/notesSlide" Target="/ppt/notesSlides/notesSlide4.xml" Id="R09d804e7753047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93404d099c4f0f" /><Relationship Type="http://schemas.openxmlformats.org/officeDocument/2006/relationships/notesSlide" Target="/ppt/notesSlides/notesSlide5.xml" Id="R37e13196543141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e967f2cd644a35" /><Relationship Type="http://schemas.openxmlformats.org/officeDocument/2006/relationships/notesSlide" Target="/ppt/notesSlides/notesSlide6.xml" Id="Ra3b37542d09b47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5060d63e814511" /><Relationship Type="http://schemas.openxmlformats.org/officeDocument/2006/relationships/notesSlide" Target="/ppt/notesSlides/notesSlide7.xml" Id="Ra3836a92697e4b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91711fc7bb4a29" /><Relationship Type="http://schemas.openxmlformats.org/officeDocument/2006/relationships/notesSlide" Target="/ppt/notesSlides/notesSlide8.xml" Id="R4c2ea659b12744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757d31136c474f" /><Relationship Type="http://schemas.openxmlformats.org/officeDocument/2006/relationships/notesSlide" Target="/ppt/notesSlides/notesSlide9.xml" Id="Rc69dfd0bdc3243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cda837f38e4b93" /><Relationship Type="http://schemas.openxmlformats.org/officeDocument/2006/relationships/notesSlide" Target="/ppt/notesSlides/notesSlide10.xml" Id="R40a7e79df26747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651bca2e4e4eab" /><Relationship Type="http://schemas.openxmlformats.org/officeDocument/2006/relationships/notesSlide" Target="/ppt/notesSlides/notesSlide11.xml" Id="R51c7145fea2d4c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f22dc6ef52447d" /><Relationship Type="http://schemas.openxmlformats.org/officeDocument/2006/relationships/notesSlide" Target="/ppt/notesSlides/notesSlide12.xml" Id="R109fdfa7426347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b1cb68f30c4315" /><Relationship Type="http://schemas.openxmlformats.org/officeDocument/2006/relationships/notesSlide" Target="/ppt/notesSlides/notesSlide13.xml" Id="R6eb1d61de1c84c46" /></Relationships>
</file>

<file path=ppt/slides/slide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430A49-B250-4973-AB7A-BD5DE30B91B2}"/>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The Living Sacrifice</a:t>
            </a:r>
          </a:p>
        </p:txBody>
      </p:sp>
      <p:sp>
        <p:nvSpPr>
          <p:cNvPr id="2" name="">
            <a:extLst xmlns:a="http://schemas.openxmlformats.org/drawingml/2006/main">
              <a:ext uri="{FF2B5EF4-FFF2-40B4-BE49-F238E27FC236}">
                <a16:creationId xmlns:a16="http://schemas.microsoft.com/office/drawing/2014/main" id="{14842FC7-C19B-4B14-91CA-5A888FBA3114}"/>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TALMIDO / CHAPTER 7</a:t>
            </a:r>
          </a:p>
        </p:txBody>
      </p:sp>
      <p:sp>
        <p:nvSpPr>
          <p:cNvPr id="3" name="">
            <a:extLst xmlns:a="http://schemas.openxmlformats.org/drawingml/2006/main">
              <a:ext uri="{FF2B5EF4-FFF2-40B4-BE49-F238E27FC236}">
                <a16:creationId xmlns:a16="http://schemas.microsoft.com/office/drawing/2014/main" id="{BA797821-A4A8-40C6-8A71-3ED48B55E8EB}"/>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Understanding the Holy Qurbana</a:t>
            </a:r>
          </a:p>
        </p:txBody>
      </p:sp>
      <p:sp>
        <p:nvSpPr>
          <p:cNvPr id="4" name="">
            <a:extLst xmlns:a="http://schemas.openxmlformats.org/drawingml/2006/main">
              <a:ext uri="{FF2B5EF4-FFF2-40B4-BE49-F238E27FC236}">
                <a16:creationId xmlns:a16="http://schemas.microsoft.com/office/drawing/2014/main" id="{59A275CF-013D-4FEC-929D-7B587C4A722E}"/>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gather with Christ—and learn to live His love.</a:t>
            </a:r>
          </a:p>
        </p:txBody>
      </p:sp>
      <p:sp>
        <p:nvSpPr>
          <p:cNvPr id="5" name="">
            <a:extLst xmlns:a="http://schemas.openxmlformats.org/drawingml/2006/main">
              <a:ext uri="{FF2B5EF4-FFF2-40B4-BE49-F238E27FC236}">
                <a16:creationId xmlns:a16="http://schemas.microsoft.com/office/drawing/2014/main" id="{4151C7C5-8540-4E71-851D-16A649344733}"/>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38–46</a:t>
            </a:r>
          </a:p>
        </p:txBody>
      </p:sp>
      <p:sp>
        <p:nvSpPr>
          <p:cNvPr id="6" name="">
            <a:extLst xmlns:a="http://schemas.openxmlformats.org/drawingml/2006/main">
              <a:ext uri="{FF2B5EF4-FFF2-40B4-BE49-F238E27FC236}">
                <a16:creationId xmlns:a16="http://schemas.microsoft.com/office/drawing/2014/main" id="{A6FE2AC6-C83D-4D3F-B95B-274712BFC049}"/>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a:t>
            </a:r>
          </a:p>
        </p:txBody>
      </p:sp>
    </p:spTree>
    <p:extLst>
      <p:ext uri="{BB962C8B-B14F-4D97-AF65-F5344CB8AC3E}">
        <p14:creationId xmlns:p14="http://schemas.microsoft.com/office/powerpoint/2010/main" val="274681900"/>
      </p:ext>
    </p:extLst>
  </p:cSld>
</p:sld>
</file>

<file path=ppt/slides/slide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9B8483-9632-442C-BE39-9C209E6CA523}"/>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One worship, two main parts</a:t>
            </a:r>
          </a:p>
        </p:txBody>
      </p:sp>
      <p:sp>
        <p:nvSpPr>
          <p:cNvPr id="2" name="">
            <a:extLst xmlns:a="http://schemas.openxmlformats.org/drawingml/2006/main">
              <a:ext uri="{FF2B5EF4-FFF2-40B4-BE49-F238E27FC236}">
                <a16:creationId xmlns:a16="http://schemas.microsoft.com/office/drawing/2014/main" id="{18675E3F-32CE-4C67-91A1-B23D74D584CF}"/>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Pre-Anaphora: hear God’s Word.</a:t>
            </a:r>
          </a:p>
        </p:txBody>
      </p:sp>
      <p:sp>
        <p:nvSpPr>
          <p:cNvPr id="3" name="">
            <a:extLst xmlns:a="http://schemas.openxmlformats.org/drawingml/2006/main">
              <a:ext uri="{FF2B5EF4-FFF2-40B4-BE49-F238E27FC236}">
                <a16:creationId xmlns:a16="http://schemas.microsoft.com/office/drawing/2014/main" id="{159B70B8-9AD8-444F-A303-7CA9B247C34A}"/>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Anaphora: enter the Eucharistic offering.</a:t>
            </a:r>
          </a:p>
        </p:txBody>
      </p:sp>
      <p:sp>
        <p:nvSpPr>
          <p:cNvPr id="4" name="">
            <a:extLst xmlns:a="http://schemas.openxmlformats.org/drawingml/2006/main">
              <a:ext uri="{FF2B5EF4-FFF2-40B4-BE49-F238E27FC236}">
                <a16:creationId xmlns:a16="http://schemas.microsoft.com/office/drawing/2014/main" id="{B5CD68A6-BECD-4ADF-876C-E7E739A80237}"/>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The Malankara Church mainly uses the Liturgy of St. James.</a:t>
            </a:r>
          </a:p>
        </p:txBody>
      </p:sp>
      <p:sp>
        <p:nvSpPr>
          <p:cNvPr id="5" name="">
            <a:extLst xmlns:a="http://schemas.openxmlformats.org/drawingml/2006/main">
              <a:ext uri="{FF2B5EF4-FFF2-40B4-BE49-F238E27FC236}">
                <a16:creationId xmlns:a16="http://schemas.microsoft.com/office/drawing/2014/main" id="{BB1BAB8B-A4F5-4EFA-9C27-80848C3903D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 39</a:t>
            </a:r>
          </a:p>
        </p:txBody>
      </p:sp>
      <p:sp>
        <p:nvSpPr>
          <p:cNvPr id="6" name="">
            <a:extLst xmlns:a="http://schemas.openxmlformats.org/drawingml/2006/main">
              <a:ext uri="{FF2B5EF4-FFF2-40B4-BE49-F238E27FC236}">
                <a16:creationId xmlns:a16="http://schemas.microsoft.com/office/drawing/2014/main" id="{3DA13F6A-869D-455E-A518-5C0FD22D2514}"/>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2</a:t>
            </a:r>
          </a:p>
        </p:txBody>
      </p:sp>
    </p:spTree>
    <p:extLst>
      <p:ext uri="{BB962C8B-B14F-4D97-AF65-F5344CB8AC3E}">
        <p14:creationId xmlns:p14="http://schemas.microsoft.com/office/powerpoint/2010/main" val="1828184018"/>
      </p:ext>
    </p:extLst>
  </p:cSld>
</p:sld>
</file>

<file path=ppt/slides/slide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53EFCB-B906-45DF-B3C5-51028BA61E81}"/>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Listen with your whole self</a:t>
            </a:r>
          </a:p>
        </p:txBody>
      </p:sp>
      <p:sp>
        <p:nvSpPr>
          <p:cNvPr id="2" name="">
            <a:extLst xmlns:a="http://schemas.openxmlformats.org/drawingml/2006/main">
              <a:ext uri="{FF2B5EF4-FFF2-40B4-BE49-F238E27FC236}">
                <a16:creationId xmlns:a16="http://schemas.microsoft.com/office/drawing/2014/main" id="{BEE272C5-0D9B-4E58-A2F0-CF19C204FC37}"/>
              </a:ext>
            </a:extLst>
          </p:cNvPr>
          <p:cNvSpPr>
            <a:spLocks xmlns:a="http://schemas.openxmlformats.org/drawingml/2006/main" noGrp="1"/>
          </p:cNvSpPr>
          <p:nvPr/>
        </p:nvSpPr>
        <p:spPr>
          <a:xfrm xmlns:a="http://schemas.openxmlformats.org/drawingml/2006/main">
            <a:off x="685800" y="195262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Scripture nourishes our souls.</a:t>
            </a:r>
          </a:p>
        </p:txBody>
      </p:sp>
      <p:sp>
        <p:nvSpPr>
          <p:cNvPr id="3" name="">
            <a:extLst xmlns:a="http://schemas.openxmlformats.org/drawingml/2006/main">
              <a:ext uri="{FF2B5EF4-FFF2-40B4-BE49-F238E27FC236}">
                <a16:creationId xmlns:a16="http://schemas.microsoft.com/office/drawing/2014/main" id="{D196D950-E4D6-461C-9AEA-D0E277793F6D}"/>
              </a:ext>
            </a:extLst>
          </p:cNvPr>
          <p:cNvSpPr>
            <a:spLocks xmlns:a="http://schemas.openxmlformats.org/drawingml/2006/main" noGrp="1"/>
          </p:cNvSpPr>
          <p:nvPr/>
        </p:nvSpPr>
        <p:spPr>
          <a:xfrm xmlns:a="http://schemas.openxmlformats.org/drawingml/2006/main">
            <a:off x="685800" y="319087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5F0E5"/>
                </a:solidFill>
                <a:latin typeface="Helvetica Neue"/>
                <a:ea typeface="Helvetica Neue"/>
                <a:cs typeface="Helvetica Neue"/>
              </a:defRPr>
            </a:pPr>
            <a:r>
              <a:rPr sz="2250" b="0">
                <a:solidFill>
                  <a:srgbClr val="F5F0E5"/>
                </a:solidFill>
                <a:latin typeface="Helvetica Neue"/>
                <a:ea typeface="Helvetica Neue"/>
                <a:cs typeface="Helvetica Neue"/>
              </a:rPr>
              <a:t>We hear the Epistles and the Gospel.</a:t>
            </a:r>
          </a:p>
        </p:txBody>
      </p:sp>
      <p:sp>
        <p:nvSpPr>
          <p:cNvPr id="4" name="">
            <a:extLst xmlns:a="http://schemas.openxmlformats.org/drawingml/2006/main">
              <a:ext uri="{FF2B5EF4-FFF2-40B4-BE49-F238E27FC236}">
                <a16:creationId xmlns:a16="http://schemas.microsoft.com/office/drawing/2014/main" id="{1A08A569-CD51-4887-8BFD-ED8FBC893E32}"/>
              </a:ext>
            </a:extLst>
          </p:cNvPr>
          <p:cNvSpPr>
            <a:spLocks xmlns:a="http://schemas.openxmlformats.org/drawingml/2006/main" noGrp="1"/>
          </p:cNvSpPr>
          <p:nvPr/>
        </p:nvSpPr>
        <p:spPr>
          <a:xfrm xmlns:a="http://schemas.openxmlformats.org/drawingml/2006/main">
            <a:off x="685800" y="4429125"/>
            <a:ext cx="604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C66C"/>
                </a:solidFill>
                <a:latin typeface="Helvetica Neue"/>
                <a:ea typeface="Helvetica Neue"/>
                <a:cs typeface="Helvetica Neue"/>
              </a:defRPr>
            </a:pPr>
            <a:r>
              <a:rPr sz="2250" b="0">
                <a:solidFill>
                  <a:srgbClr val="E8C66C"/>
                </a:solidFill>
                <a:latin typeface="Helvetica Neue"/>
                <a:ea typeface="Helvetica Neue"/>
                <a:cs typeface="Helvetica Neue"/>
              </a:rPr>
              <a:t>The sermon helps us understand and respond.</a:t>
            </a:r>
          </a:p>
        </p:txBody>
      </p:sp>
      <p:sp>
        <p:nvSpPr>
          <p:cNvPr id="5" name="">
            <a:extLst xmlns:a="http://schemas.openxmlformats.org/drawingml/2006/main">
              <a:ext uri="{FF2B5EF4-FFF2-40B4-BE49-F238E27FC236}">
                <a16:creationId xmlns:a16="http://schemas.microsoft.com/office/drawing/2014/main" id="{E4F665A8-DA61-4F3A-B58B-BD8FB1962981}"/>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 40</a:t>
            </a:r>
          </a:p>
        </p:txBody>
      </p:sp>
      <p:sp>
        <p:nvSpPr>
          <p:cNvPr id="6" name="">
            <a:extLst xmlns:a="http://schemas.openxmlformats.org/drawingml/2006/main">
              <a:ext uri="{FF2B5EF4-FFF2-40B4-BE49-F238E27FC236}">
                <a16:creationId xmlns:a16="http://schemas.microsoft.com/office/drawing/2014/main" id="{C50848D5-19CB-4386-A3CB-F5BF9F7E2EEF}"/>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67a7a4f67f94889"/>
          <a:stretch xmlns:a="http://schemas.openxmlformats.org/drawingml/2006/main"/>
        </p:blipFill>
        <p:spPr>
          <a:xfrm xmlns:a="http://schemas.openxmlformats.org/drawingml/2006/main">
            <a:off x="7143750" y="2128384"/>
            <a:ext cx="4286250" cy="3458482"/>
          </a:xfrm>
          <a:prstGeom xmlns:a="http://schemas.openxmlformats.org/drawingml/2006/main" prst="rect">
            <a:avLst/>
          </a:prstGeom>
        </p:spPr>
      </p:pic>
    </p:spTree>
    <p:extLst>
      <p:ext uri="{BB962C8B-B14F-4D97-AF65-F5344CB8AC3E}">
        <p14:creationId xmlns:p14="http://schemas.microsoft.com/office/powerpoint/2010/main" val="1645295932"/>
      </p:ext>
    </p:extLst>
  </p:cSld>
</p:sld>
</file>

<file path=ppt/slides/slide4.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3CD799-0444-4D55-9C1A-C85E9E62AE0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Mercy, prayer, and shared faith</a:t>
            </a:r>
          </a:p>
        </p:txBody>
      </p:sp>
      <p:sp>
        <p:nvSpPr>
          <p:cNvPr id="2" name="">
            <a:extLst xmlns:a="http://schemas.openxmlformats.org/drawingml/2006/main">
              <a:ext uri="{FF2B5EF4-FFF2-40B4-BE49-F238E27FC236}">
                <a16:creationId xmlns:a16="http://schemas.microsoft.com/office/drawing/2014/main" id="{FE7A8C83-E34B-44D5-B10E-8EFB961778DD}"/>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Prayers ask God for mercy.</a:t>
            </a:r>
          </a:p>
        </p:txBody>
      </p:sp>
      <p:sp>
        <p:nvSpPr>
          <p:cNvPr id="3" name="">
            <a:extLst xmlns:a="http://schemas.openxmlformats.org/drawingml/2006/main">
              <a:ext uri="{FF2B5EF4-FFF2-40B4-BE49-F238E27FC236}">
                <a16:creationId xmlns:a16="http://schemas.microsoft.com/office/drawing/2014/main" id="{28458C5F-DA25-48E3-B0DB-80FE415B054E}"/>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Incense reminds us of prayers rising to God.</a:t>
            </a:r>
          </a:p>
        </p:txBody>
      </p:sp>
      <p:sp>
        <p:nvSpPr>
          <p:cNvPr id="4" name="">
            <a:extLst xmlns:a="http://schemas.openxmlformats.org/drawingml/2006/main">
              <a:ext uri="{FF2B5EF4-FFF2-40B4-BE49-F238E27FC236}">
                <a16:creationId xmlns:a16="http://schemas.microsoft.com/office/drawing/2014/main" id="{F9286DA0-F0E7-4C56-A0CC-7D0FB71B8D5F}"/>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The Nicene Creed expresses the Church’s faith.</a:t>
            </a:r>
          </a:p>
        </p:txBody>
      </p:sp>
      <p:sp>
        <p:nvSpPr>
          <p:cNvPr id="5" name="">
            <a:extLst xmlns:a="http://schemas.openxmlformats.org/drawingml/2006/main">
              <a:ext uri="{FF2B5EF4-FFF2-40B4-BE49-F238E27FC236}">
                <a16:creationId xmlns:a16="http://schemas.microsoft.com/office/drawing/2014/main" id="{52251B89-FD2A-4365-BBF2-703B37F47AA8}"/>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 41</a:t>
            </a:r>
          </a:p>
        </p:txBody>
      </p:sp>
      <p:sp>
        <p:nvSpPr>
          <p:cNvPr id="6" name="">
            <a:extLst xmlns:a="http://schemas.openxmlformats.org/drawingml/2006/main">
              <a:ext uri="{FF2B5EF4-FFF2-40B4-BE49-F238E27FC236}">
                <a16:creationId xmlns:a16="http://schemas.microsoft.com/office/drawing/2014/main" id="{1977EC33-35FA-4FD2-802B-DD992D75CAC3}"/>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4</a:t>
            </a:r>
          </a:p>
        </p:txBody>
      </p:sp>
    </p:spTree>
    <p:extLst>
      <p:ext uri="{BB962C8B-B14F-4D97-AF65-F5344CB8AC3E}">
        <p14:creationId xmlns:p14="http://schemas.microsoft.com/office/powerpoint/2010/main" val="1151004308"/>
      </p:ext>
    </p:extLst>
  </p:cSld>
</p:sld>
</file>

<file path=ppt/slides/slide5.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BC7882-B5FE-4280-885A-6BDBA6373083}"/>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Peace begins in the heart</a:t>
            </a:r>
          </a:p>
        </p:txBody>
      </p:sp>
      <p:sp>
        <p:nvSpPr>
          <p:cNvPr id="2" name="">
            <a:extLst xmlns:a="http://schemas.openxmlformats.org/drawingml/2006/main">
              <a:ext uri="{FF2B5EF4-FFF2-40B4-BE49-F238E27FC236}">
                <a16:creationId xmlns:a16="http://schemas.microsoft.com/office/drawing/2014/main" id="{48C2C26A-56E2-4F4F-95ED-E1D919CEC198}"/>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Kiss of Peace calls us to reconciliation.</a:t>
            </a:r>
          </a:p>
        </p:txBody>
      </p:sp>
      <p:sp>
        <p:nvSpPr>
          <p:cNvPr id="3" name="">
            <a:extLst xmlns:a="http://schemas.openxmlformats.org/drawingml/2006/main">
              <a:ext uri="{FF2B5EF4-FFF2-40B4-BE49-F238E27FC236}">
                <a16:creationId xmlns:a16="http://schemas.microsoft.com/office/drawing/2014/main" id="{7533F76D-4DCE-45F5-BBFE-7E1FE2EC7903}"/>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Peace is shared from the altar to the people.</a:t>
            </a:r>
          </a:p>
        </p:txBody>
      </p:sp>
      <p:sp>
        <p:nvSpPr>
          <p:cNvPr id="4" name="">
            <a:extLst xmlns:a="http://schemas.openxmlformats.org/drawingml/2006/main">
              <a:ext uri="{FF2B5EF4-FFF2-40B4-BE49-F238E27FC236}">
                <a16:creationId xmlns:a16="http://schemas.microsoft.com/office/drawing/2014/main" id="{528E9841-347B-4682-9AD9-B8B35217CA52}"/>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Worship and the way we treat others belong together.</a:t>
            </a:r>
          </a:p>
        </p:txBody>
      </p:sp>
      <p:sp>
        <p:nvSpPr>
          <p:cNvPr id="5" name="">
            <a:extLst xmlns:a="http://schemas.openxmlformats.org/drawingml/2006/main">
              <a:ext uri="{FF2B5EF4-FFF2-40B4-BE49-F238E27FC236}">
                <a16:creationId xmlns:a16="http://schemas.microsoft.com/office/drawing/2014/main" id="{75FEB08D-D845-43D9-83CA-356B88585BEB}"/>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38, 42</a:t>
            </a:r>
          </a:p>
        </p:txBody>
      </p:sp>
      <p:sp>
        <p:nvSpPr>
          <p:cNvPr id="6" name="">
            <a:extLst xmlns:a="http://schemas.openxmlformats.org/drawingml/2006/main">
              <a:ext uri="{FF2B5EF4-FFF2-40B4-BE49-F238E27FC236}">
                <a16:creationId xmlns:a16="http://schemas.microsoft.com/office/drawing/2014/main" id="{22ABA34F-4D70-4542-9564-67A45075623B}"/>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5</a:t>
            </a:r>
          </a:p>
        </p:txBody>
      </p:sp>
    </p:spTree>
    <p:extLst>
      <p:ext uri="{BB962C8B-B14F-4D97-AF65-F5344CB8AC3E}">
        <p14:creationId xmlns:p14="http://schemas.microsoft.com/office/powerpoint/2010/main" val="1455186399"/>
      </p:ext>
    </p:extLst>
  </p:cSld>
</p:sld>
</file>

<file path=ppt/slides/slide6.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EB9399-EFD6-46BA-873A-BA8D44768F5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Stand with attention</a:t>
            </a:r>
          </a:p>
        </p:txBody>
      </p:sp>
      <p:sp>
        <p:nvSpPr>
          <p:cNvPr id="2" name="">
            <a:extLst xmlns:a="http://schemas.openxmlformats.org/drawingml/2006/main">
              <a:ext uri="{FF2B5EF4-FFF2-40B4-BE49-F238E27FC236}">
                <a16:creationId xmlns:a16="http://schemas.microsoft.com/office/drawing/2014/main" id="{4D644302-D51C-4890-BE04-4CB73FD57CC0}"/>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veil is lifted.</a:t>
            </a:r>
          </a:p>
        </p:txBody>
      </p:sp>
      <p:sp>
        <p:nvSpPr>
          <p:cNvPr id="3" name="">
            <a:extLst xmlns:a="http://schemas.openxmlformats.org/drawingml/2006/main">
              <a:ext uri="{FF2B5EF4-FFF2-40B4-BE49-F238E27FC236}">
                <a16:creationId xmlns:a16="http://schemas.microsoft.com/office/drawing/2014/main" id="{433E05ED-0CAD-451D-996D-511228FB44C3}"/>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receive the Trinitarian blessing.</a:t>
            </a:r>
          </a:p>
        </p:txBody>
      </p:sp>
      <p:sp>
        <p:nvSpPr>
          <p:cNvPr id="4" name="">
            <a:extLst xmlns:a="http://schemas.openxmlformats.org/drawingml/2006/main">
              <a:ext uri="{FF2B5EF4-FFF2-40B4-BE49-F238E27FC236}">
                <a16:creationId xmlns:a16="http://schemas.microsoft.com/office/drawing/2014/main" id="{00A8C7DF-271E-4031-A9F5-258B1BCDDCA0}"/>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join the heavenly hymn: Holy, Holy, Holy.</a:t>
            </a:r>
          </a:p>
        </p:txBody>
      </p:sp>
      <p:sp>
        <p:nvSpPr>
          <p:cNvPr id="5" name="">
            <a:extLst xmlns:a="http://schemas.openxmlformats.org/drawingml/2006/main">
              <a:ext uri="{FF2B5EF4-FFF2-40B4-BE49-F238E27FC236}">
                <a16:creationId xmlns:a16="http://schemas.microsoft.com/office/drawing/2014/main" id="{601FF9D4-D500-4303-B869-BAEF4EAA26EA}"/>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42–43</a:t>
            </a:r>
          </a:p>
        </p:txBody>
      </p:sp>
      <p:sp>
        <p:nvSpPr>
          <p:cNvPr id="6" name="">
            <a:extLst xmlns:a="http://schemas.openxmlformats.org/drawingml/2006/main">
              <a:ext uri="{FF2B5EF4-FFF2-40B4-BE49-F238E27FC236}">
                <a16:creationId xmlns:a16="http://schemas.microsoft.com/office/drawing/2014/main" id="{0E9BE28D-D54E-4199-8088-9C1CAF1F1F71}"/>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6</a:t>
            </a:r>
          </a:p>
        </p:txBody>
      </p:sp>
    </p:spTree>
    <p:extLst>
      <p:ext uri="{BB962C8B-B14F-4D97-AF65-F5344CB8AC3E}">
        <p14:creationId xmlns:p14="http://schemas.microsoft.com/office/powerpoint/2010/main" val="2086485211"/>
      </p:ext>
    </p:extLst>
  </p:cSld>
</p:sld>
</file>

<file path=ppt/slides/slide7.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E2D138-BF3C-4F76-B462-F7EAE1120314}"/>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Remember Christ’s saving work</a:t>
            </a:r>
          </a:p>
        </p:txBody>
      </p:sp>
      <p:sp>
        <p:nvSpPr>
          <p:cNvPr id="2" name="">
            <a:extLst xmlns:a="http://schemas.openxmlformats.org/drawingml/2006/main">
              <a:ext uri="{FF2B5EF4-FFF2-40B4-BE49-F238E27FC236}">
                <a16:creationId xmlns:a16="http://schemas.microsoft.com/office/drawing/2014/main" id="{6606C5A1-100B-4A9E-BB47-263EE493517A}"/>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Words of Institution recall the Mystical Supper.</a:t>
            </a:r>
          </a:p>
        </p:txBody>
      </p:sp>
      <p:sp>
        <p:nvSpPr>
          <p:cNvPr id="3" name="">
            <a:extLst xmlns:a="http://schemas.openxmlformats.org/drawingml/2006/main">
              <a:ext uri="{FF2B5EF4-FFF2-40B4-BE49-F238E27FC236}">
                <a16:creationId xmlns:a16="http://schemas.microsoft.com/office/drawing/2014/main" id="{C6AFEB0E-C506-492F-848E-4FC493E7BE0D}"/>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remember His death and Resurrection.</a:t>
            </a:r>
          </a:p>
        </p:txBody>
      </p:sp>
      <p:sp>
        <p:nvSpPr>
          <p:cNvPr id="4" name="">
            <a:extLst xmlns:a="http://schemas.openxmlformats.org/drawingml/2006/main">
              <a:ext uri="{FF2B5EF4-FFF2-40B4-BE49-F238E27FC236}">
                <a16:creationId xmlns:a16="http://schemas.microsoft.com/office/drawing/2014/main" id="{3254B1A5-4434-4849-BC0F-CE130274C01D}"/>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await His coming again.</a:t>
            </a:r>
          </a:p>
        </p:txBody>
      </p:sp>
      <p:sp>
        <p:nvSpPr>
          <p:cNvPr id="5" name="">
            <a:extLst xmlns:a="http://schemas.openxmlformats.org/drawingml/2006/main">
              <a:ext uri="{FF2B5EF4-FFF2-40B4-BE49-F238E27FC236}">
                <a16:creationId xmlns:a16="http://schemas.microsoft.com/office/drawing/2014/main" id="{20DBC4B5-8944-47F8-AF28-BB1C6349CF97}"/>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 43</a:t>
            </a:r>
          </a:p>
        </p:txBody>
      </p:sp>
      <p:sp>
        <p:nvSpPr>
          <p:cNvPr id="6" name="">
            <a:extLst xmlns:a="http://schemas.openxmlformats.org/drawingml/2006/main">
              <a:ext uri="{FF2B5EF4-FFF2-40B4-BE49-F238E27FC236}">
                <a16:creationId xmlns:a16="http://schemas.microsoft.com/office/drawing/2014/main" id="{1B510D29-48C0-4BA2-BEFB-6C4BF481CE80}"/>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7</a:t>
            </a:r>
          </a:p>
        </p:txBody>
      </p:sp>
    </p:spTree>
    <p:extLst>
      <p:ext uri="{BB962C8B-B14F-4D97-AF65-F5344CB8AC3E}">
        <p14:creationId xmlns:p14="http://schemas.microsoft.com/office/powerpoint/2010/main" val="1913054384"/>
      </p:ext>
    </p:extLst>
  </p:cSld>
</p:sld>
</file>

<file path=ppt/slides/slide8.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15E09F-F307-4B3C-8042-0036920D696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The Holy Spirit and the whole Church</a:t>
            </a:r>
          </a:p>
        </p:txBody>
      </p:sp>
      <p:sp>
        <p:nvSpPr>
          <p:cNvPr id="2" name="">
            <a:extLst xmlns:a="http://schemas.openxmlformats.org/drawingml/2006/main">
              <a:ext uri="{FF2B5EF4-FFF2-40B4-BE49-F238E27FC236}">
                <a16:creationId xmlns:a16="http://schemas.microsoft.com/office/drawing/2014/main" id="{543369FE-C893-4075-B3DF-1F486F96699A}"/>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Epiclesis: invocation of the Holy Spirit.</a:t>
            </a:r>
          </a:p>
        </p:txBody>
      </p:sp>
      <p:sp>
        <p:nvSpPr>
          <p:cNvPr id="3" name="">
            <a:extLst xmlns:a="http://schemas.openxmlformats.org/drawingml/2006/main">
              <a:ext uri="{FF2B5EF4-FFF2-40B4-BE49-F238E27FC236}">
                <a16:creationId xmlns:a16="http://schemas.microsoft.com/office/drawing/2014/main" id="{36B21B56-C381-43AD-BF84-986BDC806D31}"/>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gifts are consecrated.</a:t>
            </a:r>
          </a:p>
        </p:txBody>
      </p:sp>
      <p:sp>
        <p:nvSpPr>
          <p:cNvPr id="4" name="">
            <a:extLst xmlns:a="http://schemas.openxmlformats.org/drawingml/2006/main">
              <a:ext uri="{FF2B5EF4-FFF2-40B4-BE49-F238E27FC236}">
                <a16:creationId xmlns:a16="http://schemas.microsoft.com/office/drawing/2014/main" id="{75CF7C09-06E9-42BA-9E2A-459495227F67}"/>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The Diptychs remember the living and departed.</a:t>
            </a:r>
          </a:p>
        </p:txBody>
      </p:sp>
      <p:sp>
        <p:nvSpPr>
          <p:cNvPr id="5" name="">
            <a:extLst xmlns:a="http://schemas.openxmlformats.org/drawingml/2006/main">
              <a:ext uri="{FF2B5EF4-FFF2-40B4-BE49-F238E27FC236}">
                <a16:creationId xmlns:a16="http://schemas.microsoft.com/office/drawing/2014/main" id="{2FD874AB-8CB9-4661-8253-176CDA0C10C5}"/>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43–44</a:t>
            </a:r>
          </a:p>
        </p:txBody>
      </p:sp>
      <p:sp>
        <p:nvSpPr>
          <p:cNvPr id="6" name="">
            <a:extLst xmlns:a="http://schemas.openxmlformats.org/drawingml/2006/main">
              <a:ext uri="{FF2B5EF4-FFF2-40B4-BE49-F238E27FC236}">
                <a16:creationId xmlns:a16="http://schemas.microsoft.com/office/drawing/2014/main" id="{3E6BA8A3-2D4A-44F6-BE06-AB2B229DE629}"/>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8</a:t>
            </a:r>
          </a:p>
        </p:txBody>
      </p:sp>
    </p:spTree>
    <p:extLst>
      <p:ext uri="{BB962C8B-B14F-4D97-AF65-F5344CB8AC3E}">
        <p14:creationId xmlns:p14="http://schemas.microsoft.com/office/powerpoint/2010/main" val="1201619602"/>
      </p:ext>
    </p:extLst>
  </p:cSld>
</p:sld>
</file>

<file path=ppt/slides/slide9.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C48908-04EC-4F8F-87C7-A06C2EB64F55}"/>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Preparing for Holy Communion</a:t>
            </a:r>
          </a:p>
        </p:txBody>
      </p:sp>
      <p:sp>
        <p:nvSpPr>
          <p:cNvPr id="2" name="">
            <a:extLst xmlns:a="http://schemas.openxmlformats.org/drawingml/2006/main">
              <a:ext uri="{FF2B5EF4-FFF2-40B4-BE49-F238E27FC236}">
                <a16:creationId xmlns:a16="http://schemas.microsoft.com/office/drawing/2014/main" id="{5E117DDA-51D5-4894-8A23-FF10007FB8FB}"/>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consecrated Bread is broken.</a:t>
            </a:r>
          </a:p>
        </p:txBody>
      </p:sp>
      <p:sp>
        <p:nvSpPr>
          <p:cNvPr id="3" name="">
            <a:extLst xmlns:a="http://schemas.openxmlformats.org/drawingml/2006/main">
              <a:ext uri="{FF2B5EF4-FFF2-40B4-BE49-F238E27FC236}">
                <a16:creationId xmlns:a16="http://schemas.microsoft.com/office/drawing/2014/main" id="{B897FBB6-0DA1-49BC-9212-6E98B76B6152}"/>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We pray the Lord’s Prayer.</a:t>
            </a:r>
          </a:p>
        </p:txBody>
      </p:sp>
      <p:sp>
        <p:nvSpPr>
          <p:cNvPr id="4" name="">
            <a:extLst xmlns:a="http://schemas.openxmlformats.org/drawingml/2006/main">
              <a:ext uri="{FF2B5EF4-FFF2-40B4-BE49-F238E27FC236}">
                <a16:creationId xmlns:a16="http://schemas.microsoft.com/office/drawing/2014/main" id="{D6DA43C9-7DBD-45DA-83D8-13582CC1E12E}"/>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We draw near with repentance and reverence.</a:t>
            </a:r>
          </a:p>
        </p:txBody>
      </p:sp>
      <p:sp>
        <p:nvSpPr>
          <p:cNvPr id="5" name="">
            <a:extLst xmlns:a="http://schemas.openxmlformats.org/drawingml/2006/main">
              <a:ext uri="{FF2B5EF4-FFF2-40B4-BE49-F238E27FC236}">
                <a16:creationId xmlns:a16="http://schemas.microsoft.com/office/drawing/2014/main" id="{9A757A8D-7163-42B4-AE98-76063212E142}"/>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44–45</a:t>
            </a:r>
          </a:p>
        </p:txBody>
      </p:sp>
      <p:sp>
        <p:nvSpPr>
          <p:cNvPr id="6" name="">
            <a:extLst xmlns:a="http://schemas.openxmlformats.org/drawingml/2006/main">
              <a:ext uri="{FF2B5EF4-FFF2-40B4-BE49-F238E27FC236}">
                <a16:creationId xmlns:a16="http://schemas.microsoft.com/office/drawing/2014/main" id="{7E580397-08F6-4C0E-8E4D-9B419ED459A1}"/>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9</a:t>
            </a:r>
          </a:p>
        </p:txBody>
      </p:sp>
    </p:spTree>
    <p:extLst>
      <p:ext uri="{BB962C8B-B14F-4D97-AF65-F5344CB8AC3E}">
        <p14:creationId xmlns:p14="http://schemas.microsoft.com/office/powerpoint/2010/main" val="444267103"/>
      </p:ext>
    </p:extLst>
  </p:cSld>
</p:sld>
</file>

<file path=ppt/slides/slide10.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BCC965-E7D7-4B31-B12D-59E19501AF8A}"/>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Receive—and live differently</a:t>
            </a:r>
          </a:p>
        </p:txBody>
      </p:sp>
      <p:sp>
        <p:nvSpPr>
          <p:cNvPr id="2" name="">
            <a:extLst xmlns:a="http://schemas.openxmlformats.org/drawingml/2006/main">
              <a:ext uri="{FF2B5EF4-FFF2-40B4-BE49-F238E27FC236}">
                <a16:creationId xmlns:a16="http://schemas.microsoft.com/office/drawing/2014/main" id="{6470108E-CF33-4110-B53D-EB8479545F6D}"/>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Holy Communion unites us with Christ.</a:t>
            </a:r>
          </a:p>
        </p:txBody>
      </p:sp>
      <p:sp>
        <p:nvSpPr>
          <p:cNvPr id="3" name="">
            <a:extLst xmlns:a="http://schemas.openxmlformats.org/drawingml/2006/main">
              <a:ext uri="{FF2B5EF4-FFF2-40B4-BE49-F238E27FC236}">
                <a16:creationId xmlns:a16="http://schemas.microsoft.com/office/drawing/2014/main" id="{0B395528-7645-4B23-9F7F-A0C1C4A3291B}"/>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The service sends us into daily life.</a:t>
            </a:r>
          </a:p>
        </p:txBody>
      </p:sp>
      <p:sp>
        <p:nvSpPr>
          <p:cNvPr id="4" name="">
            <a:extLst xmlns:a="http://schemas.openxmlformats.org/drawingml/2006/main">
              <a:ext uri="{FF2B5EF4-FFF2-40B4-BE49-F238E27FC236}">
                <a16:creationId xmlns:a16="http://schemas.microsoft.com/office/drawing/2014/main" id="{7BA2FFA8-9BF9-4DA6-BE45-EA74A4970D3D}"/>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Our words and actions should show His love.</a:t>
            </a:r>
          </a:p>
        </p:txBody>
      </p:sp>
      <p:sp>
        <p:nvSpPr>
          <p:cNvPr id="5" name="">
            <a:extLst xmlns:a="http://schemas.openxmlformats.org/drawingml/2006/main">
              <a:ext uri="{FF2B5EF4-FFF2-40B4-BE49-F238E27FC236}">
                <a16:creationId xmlns:a16="http://schemas.microsoft.com/office/drawing/2014/main" id="{AA62CDB2-61CB-4537-95F9-6D63E19BE161}"/>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45–46</a:t>
            </a:r>
          </a:p>
        </p:txBody>
      </p:sp>
      <p:sp>
        <p:nvSpPr>
          <p:cNvPr id="6" name="">
            <a:extLst xmlns:a="http://schemas.openxmlformats.org/drawingml/2006/main">
              <a:ext uri="{FF2B5EF4-FFF2-40B4-BE49-F238E27FC236}">
                <a16:creationId xmlns:a16="http://schemas.microsoft.com/office/drawing/2014/main" id="{A90AD22B-9452-4720-9DB8-8D704FBB5422}"/>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10</a:t>
            </a:r>
          </a:p>
        </p:txBody>
      </p:sp>
    </p:spTree>
    <p:extLst>
      <p:ext uri="{BB962C8B-B14F-4D97-AF65-F5344CB8AC3E}">
        <p14:creationId xmlns:p14="http://schemas.microsoft.com/office/powerpoint/2010/main" val="1357208601"/>
      </p:ext>
    </p:extLst>
  </p:cSld>
</p:sld>
</file>

<file path=ppt/slides/slide11.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2CCA01-FFE2-483F-ABAA-7E81E2142AFE}"/>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What would living worship look like?</a:t>
            </a:r>
          </a:p>
        </p:txBody>
      </p:sp>
      <p:sp>
        <p:nvSpPr>
          <p:cNvPr id="2" name="">
            <a:extLst xmlns:a="http://schemas.openxmlformats.org/drawingml/2006/main">
              <a:ext uri="{FF2B5EF4-FFF2-40B4-BE49-F238E27FC236}">
                <a16:creationId xmlns:a16="http://schemas.microsoft.com/office/drawing/2014/main" id="{EF271B6F-9FA7-46B2-829F-37B3AD44C8C9}"/>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You share the Kiss of Peace on Sunday.</a:t>
            </a:r>
          </a:p>
        </p:txBody>
      </p:sp>
      <p:sp>
        <p:nvSpPr>
          <p:cNvPr id="3" name="">
            <a:extLst xmlns:a="http://schemas.openxmlformats.org/drawingml/2006/main">
              <a:ext uri="{FF2B5EF4-FFF2-40B4-BE49-F238E27FC236}">
                <a16:creationId xmlns:a16="http://schemas.microsoft.com/office/drawing/2014/main" id="{FF610ACD-7AEF-4E8F-B1BC-705E407377E5}"/>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On Monday, a classmate is left out.</a:t>
            </a:r>
          </a:p>
        </p:txBody>
      </p:sp>
      <p:sp>
        <p:nvSpPr>
          <p:cNvPr id="4" name="">
            <a:extLst xmlns:a="http://schemas.openxmlformats.org/drawingml/2006/main">
              <a:ext uri="{FF2B5EF4-FFF2-40B4-BE49-F238E27FC236}">
                <a16:creationId xmlns:a16="http://schemas.microsoft.com/office/drawing/2014/main" id="{1B2DAFBD-71D7-4803-9A32-28227779DB64}"/>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What could you do to carry Christ’s peace into school?</a:t>
            </a:r>
          </a:p>
        </p:txBody>
      </p:sp>
      <p:sp>
        <p:nvSpPr>
          <p:cNvPr id="5" name="">
            <a:extLst xmlns:a="http://schemas.openxmlformats.org/drawingml/2006/main">
              <a:ext uri="{FF2B5EF4-FFF2-40B4-BE49-F238E27FC236}">
                <a16:creationId xmlns:a16="http://schemas.microsoft.com/office/drawing/2014/main" id="{F70AEA3E-74F4-4FC2-85C3-C87FED736656}"/>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38, 46</a:t>
            </a:r>
          </a:p>
        </p:txBody>
      </p:sp>
      <p:sp>
        <p:nvSpPr>
          <p:cNvPr id="6" name="">
            <a:extLst xmlns:a="http://schemas.openxmlformats.org/drawingml/2006/main">
              <a:ext uri="{FF2B5EF4-FFF2-40B4-BE49-F238E27FC236}">
                <a16:creationId xmlns:a16="http://schemas.microsoft.com/office/drawing/2014/main" id="{3BBA8373-B215-4D13-90F9-61542E1F1B35}"/>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11</a:t>
            </a:r>
          </a:p>
        </p:txBody>
      </p:sp>
    </p:spTree>
    <p:extLst>
      <p:ext uri="{BB962C8B-B14F-4D97-AF65-F5344CB8AC3E}">
        <p14:creationId xmlns:p14="http://schemas.microsoft.com/office/powerpoint/2010/main" val="42541968"/>
      </p:ext>
    </p:extLst>
  </p:cSld>
</p:sld>
</file>

<file path=ppt/slides/slide12.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B534DD-5B01-472D-9DEF-028BE7805090}"/>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Chapter 7 quick quiz</a:t>
            </a:r>
          </a:p>
        </p:txBody>
      </p:sp>
      <p:sp>
        <p:nvSpPr>
          <p:cNvPr id="2" name="">
            <a:extLst xmlns:a="http://schemas.openxmlformats.org/drawingml/2006/main">
              <a:ext uri="{FF2B5EF4-FFF2-40B4-BE49-F238E27FC236}">
                <a16:creationId xmlns:a16="http://schemas.microsoft.com/office/drawing/2014/main" id="{6E65C43A-3F93-4F23-99C4-81FFE4E652BF}"/>
              </a:ext>
            </a:extLst>
          </p:cNvPr>
          <p:cNvSpPr>
            <a:spLocks xmlns:a="http://schemas.openxmlformats.org/drawingml/2006/main" noGrp="1"/>
          </p:cNvSpPr>
          <p:nvPr/>
        </p:nvSpPr>
        <p:spPr>
          <a:xfrm xmlns:a="http://schemas.openxmlformats.org/drawingml/2006/main">
            <a:off x="685800" y="19526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1. What are the two main parts of the liturgy?</a:t>
            </a:r>
          </a:p>
        </p:txBody>
      </p:sp>
      <p:sp>
        <p:nvSpPr>
          <p:cNvPr id="3" name="">
            <a:extLst xmlns:a="http://schemas.openxmlformats.org/drawingml/2006/main">
              <a:ext uri="{FF2B5EF4-FFF2-40B4-BE49-F238E27FC236}">
                <a16:creationId xmlns:a16="http://schemas.microsoft.com/office/drawing/2014/main" id="{6F2328A9-C392-46C4-9AC8-4A2560AA99DD}"/>
              </a:ext>
            </a:extLst>
          </p:cNvPr>
          <p:cNvSpPr>
            <a:spLocks xmlns:a="http://schemas.openxmlformats.org/drawingml/2006/main" noGrp="1"/>
          </p:cNvSpPr>
          <p:nvPr/>
        </p:nvSpPr>
        <p:spPr>
          <a:xfrm xmlns:a="http://schemas.openxmlformats.org/drawingml/2006/main">
            <a:off x="685800" y="3190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2. What does the Kiss of Peace call us to do?</a:t>
            </a:r>
          </a:p>
        </p:txBody>
      </p:sp>
      <p:sp>
        <p:nvSpPr>
          <p:cNvPr id="4" name="">
            <a:extLst xmlns:a="http://schemas.openxmlformats.org/drawingml/2006/main">
              <a:ext uri="{FF2B5EF4-FFF2-40B4-BE49-F238E27FC236}">
                <a16:creationId xmlns:a16="http://schemas.microsoft.com/office/drawing/2014/main" id="{3F72AC38-EB7F-41CA-B445-A496D3C4CA6E}"/>
              </a:ext>
            </a:extLst>
          </p:cNvPr>
          <p:cNvSpPr>
            <a:spLocks xmlns:a="http://schemas.openxmlformats.org/drawingml/2006/main" noGrp="1"/>
          </p:cNvSpPr>
          <p:nvPr/>
        </p:nvSpPr>
        <p:spPr>
          <a:xfrm xmlns:a="http://schemas.openxmlformats.org/drawingml/2006/main">
            <a:off x="685800" y="44291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3. What is the Epiclesis?</a:t>
            </a:r>
          </a:p>
        </p:txBody>
      </p:sp>
      <p:sp>
        <p:nvSpPr>
          <p:cNvPr id="5" name="">
            <a:extLst xmlns:a="http://schemas.openxmlformats.org/drawingml/2006/main">
              <a:ext uri="{FF2B5EF4-FFF2-40B4-BE49-F238E27FC236}">
                <a16:creationId xmlns:a16="http://schemas.microsoft.com/office/drawing/2014/main" id="{1AF2C039-88B9-4E17-B82E-A8F23BC62A21}"/>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39, 42–43</a:t>
            </a:r>
          </a:p>
        </p:txBody>
      </p:sp>
      <p:sp>
        <p:nvSpPr>
          <p:cNvPr id="6" name="">
            <a:extLst xmlns:a="http://schemas.openxmlformats.org/drawingml/2006/main">
              <a:ext uri="{FF2B5EF4-FFF2-40B4-BE49-F238E27FC236}">
                <a16:creationId xmlns:a16="http://schemas.microsoft.com/office/drawing/2014/main" id="{A6EF88D7-A85F-47B0-864B-1C9C23933D6B}"/>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12</a:t>
            </a:r>
          </a:p>
        </p:txBody>
      </p:sp>
    </p:spTree>
    <p:extLst>
      <p:ext uri="{BB962C8B-B14F-4D97-AF65-F5344CB8AC3E}">
        <p14:creationId xmlns:p14="http://schemas.microsoft.com/office/powerpoint/2010/main" val="2004916042"/>
      </p:ext>
    </p:extLst>
  </p:cSld>
</p:sld>
</file>

<file path=ppt/slides/slide13.xml><?xml version="1.0" encoding="utf-8"?>
<p:sld xmlns:p="http://schemas.openxmlformats.org/presentationml/2006/main">
  <p:cSld>
    <p:bg>
      <p:bgPr>
        <a:solidFill xmlns:a="http://schemas.openxmlformats.org/drawingml/2006/main">
          <a:srgbClr val="101A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9C636A-D815-4953-B2CB-82CE5882D412}"/>
              </a:ext>
            </a:extLst>
          </p:cNvPr>
          <p:cNvSpPr>
            <a:spLocks xmlns:a="http://schemas.openxmlformats.org/drawingml/2006/main" noGrp="1"/>
          </p:cNvSpPr>
          <p:nvPr/>
        </p:nvSpPr>
        <p:spPr>
          <a:xfrm xmlns:a="http://schemas.openxmlformats.org/drawingml/2006/main">
            <a:off x="685800" y="552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0E5"/>
                </a:solidFill>
                <a:latin typeface="Helvetica Neue"/>
                <a:ea typeface="Helvetica Neue"/>
                <a:cs typeface="Helvetica Neue"/>
              </a:defRPr>
            </a:pPr>
            <a:r>
              <a:rPr sz="3600" b="1">
                <a:solidFill>
                  <a:srgbClr val="F5F0E5"/>
                </a:solidFill>
                <a:latin typeface="Helvetica Neue"/>
                <a:ea typeface="Helvetica Neue"/>
                <a:cs typeface="Helvetica Neue"/>
              </a:rPr>
              <a:t>Answers and one idea to remember</a:t>
            </a:r>
          </a:p>
        </p:txBody>
      </p:sp>
      <p:sp>
        <p:nvSpPr>
          <p:cNvPr id="2" name="">
            <a:extLst xmlns:a="http://schemas.openxmlformats.org/drawingml/2006/main">
              <a:ext uri="{FF2B5EF4-FFF2-40B4-BE49-F238E27FC236}">
                <a16:creationId xmlns:a16="http://schemas.microsoft.com/office/drawing/2014/main" id="{EA510DB7-9B53-4C8B-98A4-249407AC4302}"/>
              </a:ext>
            </a:extLst>
          </p:cNvPr>
          <p:cNvSpPr>
            <a:spLocks xmlns:a="http://schemas.openxmlformats.org/drawingml/2006/main" noGrp="1"/>
          </p:cNvSpPr>
          <p:nvPr/>
        </p:nvSpPr>
        <p:spPr>
          <a:xfrm xmlns:a="http://schemas.openxmlformats.org/drawingml/2006/main">
            <a:off x="685800" y="1952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1. Pre-Anaphora and Anaphora.</a:t>
            </a:r>
          </a:p>
        </p:txBody>
      </p:sp>
      <p:sp>
        <p:nvSpPr>
          <p:cNvPr id="3" name="">
            <a:extLst xmlns:a="http://schemas.openxmlformats.org/drawingml/2006/main">
              <a:ext uri="{FF2B5EF4-FFF2-40B4-BE49-F238E27FC236}">
                <a16:creationId xmlns:a16="http://schemas.microsoft.com/office/drawing/2014/main" id="{0BD70AAA-9194-4D25-AC2F-79044695E8C6}"/>
              </a:ext>
            </a:extLst>
          </p:cNvPr>
          <p:cNvSpPr>
            <a:spLocks xmlns:a="http://schemas.openxmlformats.org/drawingml/2006/main" noGrp="1"/>
          </p:cNvSpPr>
          <p:nvPr/>
        </p:nvSpPr>
        <p:spPr>
          <a:xfrm xmlns:a="http://schemas.openxmlformats.org/drawingml/2006/main">
            <a:off x="685800" y="28860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2. Be reconciled and share sincere peace.</a:t>
            </a:r>
          </a:p>
        </p:txBody>
      </p:sp>
      <p:sp>
        <p:nvSpPr>
          <p:cNvPr id="4" name="">
            <a:extLst xmlns:a="http://schemas.openxmlformats.org/drawingml/2006/main">
              <a:ext uri="{FF2B5EF4-FFF2-40B4-BE49-F238E27FC236}">
                <a16:creationId xmlns:a16="http://schemas.microsoft.com/office/drawing/2014/main" id="{1E578F78-9A2A-465B-8A2B-0B659D15A5BA}"/>
              </a:ext>
            </a:extLst>
          </p:cNvPr>
          <p:cNvSpPr>
            <a:spLocks xmlns:a="http://schemas.openxmlformats.org/drawingml/2006/main" noGrp="1"/>
          </p:cNvSpPr>
          <p:nvPr/>
        </p:nvSpPr>
        <p:spPr>
          <a:xfrm xmlns:a="http://schemas.openxmlformats.org/drawingml/2006/main">
            <a:off x="685800" y="3819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5F0E5"/>
                </a:solidFill>
                <a:latin typeface="Helvetica Neue"/>
                <a:ea typeface="Helvetica Neue"/>
                <a:cs typeface="Helvetica Neue"/>
              </a:defRPr>
            </a:pPr>
            <a:r>
              <a:rPr sz="2550" b="0">
                <a:solidFill>
                  <a:srgbClr val="F5F0E5"/>
                </a:solidFill>
                <a:latin typeface="Helvetica Neue"/>
                <a:ea typeface="Helvetica Neue"/>
                <a:cs typeface="Helvetica Neue"/>
              </a:rPr>
              <a:t>3. The invocation of the Holy Spirit.</a:t>
            </a:r>
          </a:p>
        </p:txBody>
      </p:sp>
      <p:sp>
        <p:nvSpPr>
          <p:cNvPr id="5" name="">
            <a:extLst xmlns:a="http://schemas.openxmlformats.org/drawingml/2006/main">
              <a:ext uri="{FF2B5EF4-FFF2-40B4-BE49-F238E27FC236}">
                <a16:creationId xmlns:a16="http://schemas.microsoft.com/office/drawing/2014/main" id="{AFC00EBB-ADB6-41EF-879D-23577750F209}"/>
              </a:ext>
            </a:extLst>
          </p:cNvPr>
          <p:cNvSpPr>
            <a:spLocks xmlns:a="http://schemas.openxmlformats.org/drawingml/2006/main" noGrp="1"/>
          </p:cNvSpPr>
          <p:nvPr/>
        </p:nvSpPr>
        <p:spPr>
          <a:xfrm xmlns:a="http://schemas.openxmlformats.org/drawingml/2006/main">
            <a:off x="685800" y="47529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8C66C"/>
                </a:solidFill>
                <a:latin typeface="Helvetica Neue"/>
                <a:ea typeface="Helvetica Neue"/>
                <a:cs typeface="Helvetica Neue"/>
              </a:defRPr>
            </a:pPr>
            <a:r>
              <a:rPr sz="2550" b="0">
                <a:solidFill>
                  <a:srgbClr val="E8C66C"/>
                </a:solidFill>
                <a:latin typeface="Helvetica Neue"/>
                <a:ea typeface="Helvetica Neue"/>
                <a:cs typeface="Helvetica Neue"/>
              </a:rPr>
              <a:t>Worship shapes how we live all week.</a:t>
            </a:r>
          </a:p>
        </p:txBody>
      </p:sp>
      <p:sp>
        <p:nvSpPr>
          <p:cNvPr id="6" name="">
            <a:extLst xmlns:a="http://schemas.openxmlformats.org/drawingml/2006/main">
              <a:ext uri="{FF2B5EF4-FFF2-40B4-BE49-F238E27FC236}">
                <a16:creationId xmlns:a16="http://schemas.microsoft.com/office/drawing/2014/main" id="{3E75452B-7E69-4C21-91BB-CC2E3B988F59}"/>
              </a:ext>
            </a:extLst>
          </p:cNvPr>
          <p:cNvSpPr>
            <a:spLocks xmlns:a="http://schemas.openxmlformats.org/drawingml/2006/main" noGrp="1"/>
          </p:cNvSpPr>
          <p:nvPr/>
        </p:nvSpPr>
        <p:spPr>
          <a:xfrm xmlns:a="http://schemas.openxmlformats.org/drawingml/2006/main">
            <a:off x="685800" y="62865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Talmido 7   /   pp. 38–46</a:t>
            </a:r>
          </a:p>
        </p:txBody>
      </p:sp>
      <p:sp>
        <p:nvSpPr>
          <p:cNvPr id="7" name="">
            <a:extLst xmlns:a="http://schemas.openxmlformats.org/drawingml/2006/main">
              <a:ext uri="{FF2B5EF4-FFF2-40B4-BE49-F238E27FC236}">
                <a16:creationId xmlns:a16="http://schemas.microsoft.com/office/drawing/2014/main" id="{12043AD0-38EC-4918-9F26-1CD71817B1F3}"/>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5D8"/>
                </a:solidFill>
                <a:latin typeface="Helvetica Neue"/>
                <a:ea typeface="Helvetica Neue"/>
                <a:cs typeface="Helvetica Neue"/>
              </a:defRPr>
            </a:pPr>
            <a:r>
              <a:rPr sz="1275" b="0">
                <a:solidFill>
                  <a:srgbClr val="B7C5D8"/>
                </a:solidFill>
                <a:latin typeface="Helvetica Neue"/>
                <a:ea typeface="Helvetica Neue"/>
                <a:cs typeface="Helvetica Neue"/>
              </a:rPr>
              <a:t>13</a:t>
            </a:r>
          </a:p>
        </p:txBody>
      </p:sp>
    </p:spTree>
    <p:extLst>
      <p:ext uri="{BB962C8B-B14F-4D97-AF65-F5344CB8AC3E}">
        <p14:creationId xmlns:p14="http://schemas.microsoft.com/office/powerpoint/2010/main" val="11756045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2026-10-07T19:23:43.6020000Z</dcterms:created>
  <dcterms:modified xsi:type="dcterms:W3CDTF">2026-10-07T19:23:43.6020000Z</dcterms:modified>
</coreProperties>
</file>